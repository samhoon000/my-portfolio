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Barlow" charset="1" panose="00000500000000000000"/>
      <p:regular r:id="rId17"/>
    </p:embeddedFont>
    <p:embeddedFont>
      <p:font typeface="Arimo Bold" charset="1" panose="020B0704020202020204"/>
      <p:regular r:id="rId18"/>
    </p:embeddedFont>
    <p:embeddedFont>
      <p:font typeface="Barlow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13" Target="../media/image20.png" Type="http://schemas.openxmlformats.org/officeDocument/2006/relationships/image"/><Relationship Id="rId14" Target="../media/image21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../media/image29.png" Type="http://schemas.openxmlformats.org/officeDocument/2006/relationships/image"/><Relationship Id="rId12" Target="../media/image30.svg" Type="http://schemas.openxmlformats.org/officeDocument/2006/relationships/image"/><Relationship Id="rId13" Target="../media/image31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.jpe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10798" y="2755849"/>
            <a:ext cx="2696023" cy="468954"/>
            <a:chOff x="0" y="0"/>
            <a:chExt cx="3594697" cy="6252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94735" cy="625348"/>
            </a:xfrm>
            <a:custGeom>
              <a:avLst/>
              <a:gdLst/>
              <a:ahLst/>
              <a:cxnLst/>
              <a:rect r="r" b="b" t="t" l="l"/>
              <a:pathLst>
                <a:path h="625348" w="3594735">
                  <a:moveTo>
                    <a:pt x="0" y="312674"/>
                  </a:moveTo>
                  <a:cubicBezTo>
                    <a:pt x="0" y="139954"/>
                    <a:pt x="139954" y="0"/>
                    <a:pt x="312674" y="0"/>
                  </a:cubicBezTo>
                  <a:lnTo>
                    <a:pt x="3282061" y="0"/>
                  </a:lnTo>
                  <a:cubicBezTo>
                    <a:pt x="3454781" y="0"/>
                    <a:pt x="3594735" y="139954"/>
                    <a:pt x="3594735" y="312674"/>
                  </a:cubicBezTo>
                  <a:cubicBezTo>
                    <a:pt x="3594735" y="485394"/>
                    <a:pt x="3454781" y="625348"/>
                    <a:pt x="3282061" y="625348"/>
                  </a:cubicBezTo>
                  <a:lnTo>
                    <a:pt x="312674" y="625348"/>
                  </a:lnTo>
                  <a:cubicBezTo>
                    <a:pt x="139954" y="625221"/>
                    <a:pt x="0" y="485267"/>
                    <a:pt x="0" y="312674"/>
                  </a:cubicBezTo>
                  <a:close/>
                </a:path>
              </a:pathLst>
            </a:custGeom>
            <a:solidFill>
              <a:srgbClr val="004D3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6795935" y="2857948"/>
            <a:ext cx="3240138" cy="274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1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PORTFOLIO PROJECT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46714" y="2741562"/>
            <a:ext cx="2244623" cy="497538"/>
            <a:chOff x="0" y="0"/>
            <a:chExt cx="2992831" cy="6633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92882" cy="663448"/>
            </a:xfrm>
            <a:custGeom>
              <a:avLst/>
              <a:gdLst/>
              <a:ahLst/>
              <a:cxnLst/>
              <a:rect r="r" b="b" t="t" l="l"/>
              <a:pathLst>
                <a:path h="663448" w="2992882">
                  <a:moveTo>
                    <a:pt x="0" y="331724"/>
                  </a:moveTo>
                  <a:cubicBezTo>
                    <a:pt x="0" y="148463"/>
                    <a:pt x="148463" y="0"/>
                    <a:pt x="331724" y="0"/>
                  </a:cubicBezTo>
                  <a:lnTo>
                    <a:pt x="2661158" y="0"/>
                  </a:lnTo>
                  <a:cubicBezTo>
                    <a:pt x="2844292" y="0"/>
                    <a:pt x="2992882" y="148463"/>
                    <a:pt x="2992882" y="331724"/>
                  </a:cubicBezTo>
                  <a:cubicBezTo>
                    <a:pt x="2992882" y="514985"/>
                    <a:pt x="2844419" y="663448"/>
                    <a:pt x="2661158" y="663448"/>
                  </a:cubicBezTo>
                  <a:lnTo>
                    <a:pt x="331724" y="663448"/>
                  </a:lnTo>
                  <a:cubicBezTo>
                    <a:pt x="148463" y="663321"/>
                    <a:pt x="0" y="514858"/>
                    <a:pt x="0" y="331724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902" r="1" b="-37892"/>
              </a:stretch>
            </a:blipFill>
            <a:ln w="28576" cap="sq">
              <a:solidFill>
                <a:srgbClr val="16FFBB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646148" y="2857948"/>
            <a:ext cx="2760164" cy="274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1900">
                <a:solidFill>
                  <a:srgbClr val="16FFBB"/>
                </a:solidFill>
                <a:latin typeface="Barlow"/>
                <a:ea typeface="Barlow"/>
                <a:cs typeface="Barlow"/>
                <a:sym typeface="Barlow"/>
              </a:rPr>
              <a:t>DATA ANALYTICS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0049" y="3291040"/>
            <a:ext cx="16127911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9"/>
              </a:lnSpc>
            </a:pPr>
            <a:r>
              <a:rPr lang="en-US" sz="54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Instacart Customer Analytics Dashboard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0049" y="4544463"/>
            <a:ext cx="16127911" cy="170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8"/>
              </a:lnSpc>
            </a:pPr>
            <a:r>
              <a:rPr lang="en-US" sz="30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End-to-End Data Analytics Project using Python, DuckDB, SQL &amp; Power BI</a:t>
            </a:r>
          </a:p>
          <a:p>
            <a:pPr algn="ctr">
              <a:lnSpc>
                <a:spcPts val="4788"/>
              </a:lnSpc>
            </a:pPr>
            <a:r>
              <a:rPr lang="en-US" sz="30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Transforming 3.4M+ transactions into executive-level business insights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80049" y="6673901"/>
            <a:ext cx="16127911" cy="38100"/>
            <a:chOff x="0" y="0"/>
            <a:chExt cx="21503881" cy="50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503894" cy="50800"/>
            </a:xfrm>
            <a:custGeom>
              <a:avLst/>
              <a:gdLst/>
              <a:ahLst/>
              <a:cxnLst/>
              <a:rect r="r" b="b" t="t" l="l"/>
              <a:pathLst>
                <a:path h="50800" w="21503894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478494" y="0"/>
                  </a:lnTo>
                  <a:cubicBezTo>
                    <a:pt x="21492463" y="0"/>
                    <a:pt x="21503894" y="11430"/>
                    <a:pt x="21503894" y="25400"/>
                  </a:cubicBezTo>
                  <a:cubicBezTo>
                    <a:pt x="21503894" y="39370"/>
                    <a:pt x="21492463" y="50800"/>
                    <a:pt x="21478494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E0E4E6">
                <a:alpha val="24706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22849" y="7059959"/>
            <a:ext cx="17042311" cy="471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sz="1900" b="true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Author:</a:t>
            </a:r>
            <a:r>
              <a:rPr lang="en-US" sz="1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Abdul Samhoon | </a:t>
            </a:r>
            <a:r>
              <a:rPr lang="en-US" sz="1900" b="true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Date:</a:t>
            </a:r>
            <a:r>
              <a:rPr lang="en-US" sz="1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049" y="1075877"/>
            <a:ext cx="1924498" cy="461515"/>
            <a:chOff x="0" y="0"/>
            <a:chExt cx="2565997" cy="6153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66035" cy="615315"/>
            </a:xfrm>
            <a:custGeom>
              <a:avLst/>
              <a:gdLst/>
              <a:ahLst/>
              <a:cxnLst/>
              <a:rect r="r" b="b" t="t" l="l"/>
              <a:pathLst>
                <a:path h="615315" w="2566035">
                  <a:moveTo>
                    <a:pt x="0" y="307721"/>
                  </a:moveTo>
                  <a:cubicBezTo>
                    <a:pt x="0" y="137795"/>
                    <a:pt x="137795" y="0"/>
                    <a:pt x="307721" y="0"/>
                  </a:cubicBezTo>
                  <a:lnTo>
                    <a:pt x="2258314" y="0"/>
                  </a:lnTo>
                  <a:cubicBezTo>
                    <a:pt x="2428240" y="0"/>
                    <a:pt x="2566035" y="137795"/>
                    <a:pt x="2566035" y="307721"/>
                  </a:cubicBezTo>
                  <a:cubicBezTo>
                    <a:pt x="2566035" y="477647"/>
                    <a:pt x="2428240" y="615315"/>
                    <a:pt x="2258314" y="615315"/>
                  </a:cubicBezTo>
                  <a:lnTo>
                    <a:pt x="307721" y="615315"/>
                  </a:lnTo>
                  <a:cubicBezTo>
                    <a:pt x="137795" y="615315"/>
                    <a:pt x="0" y="477647"/>
                    <a:pt x="0" y="307721"/>
                  </a:cubicBezTo>
                  <a:close/>
                </a:path>
              </a:pathLst>
            </a:custGeom>
            <a:solidFill>
              <a:srgbClr val="004D3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62215" y="1176490"/>
            <a:ext cx="2474566" cy="269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1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02 — CONTEXT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049" y="1618802"/>
            <a:ext cx="16127911" cy="71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Business Problem &amp; Objectives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61270" y="2780405"/>
            <a:ext cx="6781352" cy="6430718"/>
            <a:chOff x="0" y="0"/>
            <a:chExt cx="9041803" cy="85742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41892" cy="8574278"/>
            </a:xfrm>
            <a:custGeom>
              <a:avLst/>
              <a:gdLst/>
              <a:ahLst/>
              <a:cxnLst/>
              <a:rect r="r" b="b" t="t" l="l"/>
              <a:pathLst>
                <a:path h="8574278" w="9041892">
                  <a:moveTo>
                    <a:pt x="0" y="972185"/>
                  </a:moveTo>
                  <a:cubicBezTo>
                    <a:pt x="0" y="435229"/>
                    <a:pt x="435229" y="0"/>
                    <a:pt x="972185" y="0"/>
                  </a:cubicBezTo>
                  <a:lnTo>
                    <a:pt x="8069707" y="0"/>
                  </a:lnTo>
                  <a:cubicBezTo>
                    <a:pt x="8606663" y="0"/>
                    <a:pt x="9041892" y="435229"/>
                    <a:pt x="9041892" y="972185"/>
                  </a:cubicBezTo>
                  <a:lnTo>
                    <a:pt x="9041892" y="7602093"/>
                  </a:lnTo>
                  <a:cubicBezTo>
                    <a:pt x="9041892" y="8139050"/>
                    <a:pt x="8606663" y="8574278"/>
                    <a:pt x="8069707" y="8574278"/>
                  </a:cubicBezTo>
                  <a:lnTo>
                    <a:pt x="972185" y="8574278"/>
                  </a:lnTo>
                  <a:cubicBezTo>
                    <a:pt x="435229" y="8574278"/>
                    <a:pt x="0" y="8139049"/>
                    <a:pt x="0" y="7602093"/>
                  </a:cubicBezTo>
                  <a:close/>
                </a:path>
              </a:pathLst>
            </a:custGeom>
            <a:solidFill>
              <a:srgbClr val="091231">
                <a:alpha val="56078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65022" y="3050829"/>
            <a:ext cx="6173838" cy="45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The Challenge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5022" y="3714598"/>
            <a:ext cx="6173838" cy="228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Online grocery platforms generate millions of daily transactions, making it difficult to extract meaningful, actionable insights from raw data.</a:t>
            </a:r>
          </a:p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Businesses need clarity on: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5022" y="6181573"/>
            <a:ext cx="6173838" cy="232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990" indent="-277495" lvl="1">
              <a:lnSpc>
                <a:spcPts val="3643"/>
              </a:lnSpc>
              <a:buFont typeface="Arial"/>
              <a:buChar char="•"/>
            </a:pPr>
            <a:r>
              <a:rPr lang="en-US" sz="23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Customer purchasing behavior</a:t>
            </a:r>
          </a:p>
          <a:p>
            <a:pPr algn="l" marL="554990" indent="-277495" lvl="1">
              <a:lnSpc>
                <a:spcPts val="3643"/>
              </a:lnSpc>
              <a:buFont typeface="Arial"/>
              <a:buChar char="•"/>
            </a:pPr>
            <a:r>
              <a:rPr lang="en-US" sz="23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Product demand patterns</a:t>
            </a:r>
          </a:p>
          <a:p>
            <a:pPr algn="l" marL="554990" indent="-277495" lvl="1">
              <a:lnSpc>
                <a:spcPts val="3643"/>
              </a:lnSpc>
              <a:buFont typeface="Arial"/>
              <a:buChar char="•"/>
            </a:pPr>
            <a:r>
              <a:rPr lang="en-US" sz="23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Inventory planning</a:t>
            </a:r>
          </a:p>
          <a:p>
            <a:pPr algn="l" marL="554990" indent="-277495" lvl="1">
              <a:lnSpc>
                <a:spcPts val="3643"/>
              </a:lnSpc>
              <a:buFont typeface="Arial"/>
              <a:buChar char="•"/>
            </a:pPr>
            <a:r>
              <a:rPr lang="en-US" sz="23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Customer retention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74536" y="3050829"/>
            <a:ext cx="9042797" cy="45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Project Objectives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8174536" y="3837680"/>
            <a:ext cx="4371823" cy="2369048"/>
          </a:xfrm>
          <a:custGeom>
            <a:avLst/>
            <a:gdLst/>
            <a:ahLst/>
            <a:cxnLst/>
            <a:rect r="r" b="b" t="t" l="l"/>
            <a:pathLst>
              <a:path h="2369048" w="4371823">
                <a:moveTo>
                  <a:pt x="0" y="0"/>
                </a:moveTo>
                <a:lnTo>
                  <a:pt x="4371823" y="0"/>
                </a:lnTo>
                <a:lnTo>
                  <a:pt x="4371823" y="2369048"/>
                </a:lnTo>
                <a:lnTo>
                  <a:pt x="0" y="2369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4" r="0" b="-55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668788" y="4150966"/>
            <a:ext cx="3535709" cy="45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Analytical Database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68788" y="4814735"/>
            <a:ext cx="3535709" cy="105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Build a fast analytical layer using DuckDB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12845358" y="3837680"/>
            <a:ext cx="4371975" cy="2369048"/>
          </a:xfrm>
          <a:custGeom>
            <a:avLst/>
            <a:gdLst/>
            <a:ahLst/>
            <a:cxnLst/>
            <a:rect r="r" b="b" t="t" l="l"/>
            <a:pathLst>
              <a:path h="2369048" w="4371975">
                <a:moveTo>
                  <a:pt x="0" y="0"/>
                </a:moveTo>
                <a:lnTo>
                  <a:pt x="4371975" y="0"/>
                </a:lnTo>
                <a:lnTo>
                  <a:pt x="4371975" y="2369048"/>
                </a:lnTo>
                <a:lnTo>
                  <a:pt x="0" y="23690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48" r="0" b="-148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339610" y="4150966"/>
            <a:ext cx="3535861" cy="45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Purchasing Behavior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39610" y="4814735"/>
            <a:ext cx="3535861" cy="105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Analyze ordering patterns and trends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8174536" y="6505727"/>
            <a:ext cx="4371823" cy="2369048"/>
          </a:xfrm>
          <a:custGeom>
            <a:avLst/>
            <a:gdLst/>
            <a:ahLst/>
            <a:cxnLst/>
            <a:rect r="r" b="b" t="t" l="l"/>
            <a:pathLst>
              <a:path h="2369048" w="4371823">
                <a:moveTo>
                  <a:pt x="0" y="0"/>
                </a:moveTo>
                <a:lnTo>
                  <a:pt x="4371823" y="0"/>
                </a:lnTo>
                <a:lnTo>
                  <a:pt x="4371823" y="2369049"/>
                </a:lnTo>
                <a:lnTo>
                  <a:pt x="0" y="23690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54" r="0" b="-55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668788" y="6819005"/>
            <a:ext cx="3535709" cy="45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Product Performance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68788" y="7482783"/>
            <a:ext cx="3535709" cy="105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Evaluate departments, aisles, and demand</a:t>
            </a:r>
          </a:p>
        </p:txBody>
      </p:sp>
      <p:sp>
        <p:nvSpPr>
          <p:cNvPr name="Freeform 25" id="25" descr="preencoded.png"/>
          <p:cNvSpPr/>
          <p:nvPr/>
        </p:nvSpPr>
        <p:spPr>
          <a:xfrm flipH="false" flipV="false" rot="0">
            <a:off x="12845358" y="6505727"/>
            <a:ext cx="4371975" cy="2369048"/>
          </a:xfrm>
          <a:custGeom>
            <a:avLst/>
            <a:gdLst/>
            <a:ahLst/>
            <a:cxnLst/>
            <a:rect r="r" b="b" t="t" l="l"/>
            <a:pathLst>
              <a:path h="2369048" w="4371975">
                <a:moveTo>
                  <a:pt x="0" y="0"/>
                </a:moveTo>
                <a:lnTo>
                  <a:pt x="4371975" y="0"/>
                </a:lnTo>
                <a:lnTo>
                  <a:pt x="4371975" y="2369049"/>
                </a:lnTo>
                <a:lnTo>
                  <a:pt x="0" y="23690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48" r="0" b="-148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339610" y="6819005"/>
            <a:ext cx="3535861" cy="45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Executive Dashboards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339610" y="7482783"/>
            <a:ext cx="3535861" cy="105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Deliver interactive Power BI dashboards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271540"/>
            <a:ext cx="4781550" cy="44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Dataset &amp; Technology Stack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98103" y="1987896"/>
            <a:ext cx="1675567" cy="64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1"/>
              </a:lnSpc>
            </a:pPr>
            <a:r>
              <a:rPr lang="en-US" sz="46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3.4M+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19405" y="2555681"/>
            <a:ext cx="832961" cy="31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9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Orders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30518" y="1987896"/>
            <a:ext cx="1426964" cy="64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1"/>
              </a:lnSpc>
            </a:pPr>
            <a:r>
              <a:rPr lang="en-US" sz="46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206K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80643" y="2555681"/>
            <a:ext cx="1326713" cy="31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9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Customers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04605" y="1987896"/>
            <a:ext cx="1095018" cy="64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1"/>
              </a:lnSpc>
            </a:pPr>
            <a:r>
              <a:rPr lang="en-US" sz="46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49K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01748" y="2555681"/>
            <a:ext cx="1100733" cy="31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9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Products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41959" y="3077470"/>
            <a:ext cx="995958" cy="64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1"/>
              </a:lnSpc>
            </a:pPr>
            <a:r>
              <a:rPr lang="en-US" sz="46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134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65784" y="3645246"/>
            <a:ext cx="748308" cy="31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9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Aisles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16046" y="3077470"/>
            <a:ext cx="664012" cy="64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1"/>
              </a:lnSpc>
            </a:pPr>
            <a:r>
              <a:rPr lang="en-US" sz="46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21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71765" y="3645246"/>
            <a:ext cx="1552575" cy="31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9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Departments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80049" y="3994394"/>
            <a:ext cx="16127911" cy="19050"/>
            <a:chOff x="0" y="0"/>
            <a:chExt cx="21503881" cy="25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503894" cy="25400"/>
            </a:xfrm>
            <a:custGeom>
              <a:avLst/>
              <a:gdLst/>
              <a:ahLst/>
              <a:cxnLst/>
              <a:rect r="r" b="b" t="t" l="l"/>
              <a:pathLst>
                <a:path h="25400" w="21503894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21491194" y="0"/>
                  </a:lnTo>
                  <a:cubicBezTo>
                    <a:pt x="21498179" y="0"/>
                    <a:pt x="21503894" y="5715"/>
                    <a:pt x="21503894" y="12700"/>
                  </a:cubicBezTo>
                  <a:cubicBezTo>
                    <a:pt x="21503894" y="19685"/>
                    <a:pt x="21498179" y="25400"/>
                    <a:pt x="21491194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E0E4E6">
                <a:alpha val="24706"/>
              </a:srgbClr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80049" y="4206326"/>
            <a:ext cx="1962269" cy="31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1999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Dataset Schema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0049" y="4497734"/>
            <a:ext cx="746069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Five interconnected tables form the relational backbone of the analysis.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958399" y="4984089"/>
            <a:ext cx="6761845" cy="5216958"/>
            <a:chOff x="0" y="0"/>
            <a:chExt cx="10941050" cy="8441334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0941050" cy="8441309"/>
            </a:xfrm>
            <a:custGeom>
              <a:avLst/>
              <a:gdLst/>
              <a:ahLst/>
              <a:cxnLst/>
              <a:rect r="r" b="b" t="t" l="l"/>
              <a:pathLst>
                <a:path h="8441309" w="10941050">
                  <a:moveTo>
                    <a:pt x="0" y="0"/>
                  </a:moveTo>
                  <a:lnTo>
                    <a:pt x="10941050" y="0"/>
                  </a:lnTo>
                  <a:lnTo>
                    <a:pt x="10941050" y="8441309"/>
                  </a:lnTo>
                  <a:lnTo>
                    <a:pt x="0" y="8441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" t="0" r="-4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4623756" y="7240172"/>
            <a:ext cx="1431131" cy="55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1"/>
              </a:lnSpc>
            </a:pPr>
            <a:r>
              <a:rPr lang="en-US" sz="17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Table Relationships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263726" y="8870213"/>
            <a:ext cx="1100733" cy="31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9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Products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010573" y="9435998"/>
            <a:ext cx="1524953" cy="218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1"/>
              </a:lnSpc>
            </a:pPr>
            <a:r>
              <a:rPr lang="en-US" sz="17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Catalog of items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81478" y="7179173"/>
            <a:ext cx="1552575" cy="31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9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Departments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62118" y="7737434"/>
            <a:ext cx="1990249" cy="218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1"/>
              </a:lnSpc>
            </a:pPr>
            <a:r>
              <a:rPr lang="en-US" sz="17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High-level categories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470824" y="8946642"/>
            <a:ext cx="748308" cy="31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sz="20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Aisles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98103" y="9435998"/>
            <a:ext cx="2006389" cy="418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1"/>
              </a:lnSpc>
            </a:pPr>
            <a:r>
              <a:rPr lang="en-US" sz="17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Product aisle grouping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685738" y="7098978"/>
            <a:ext cx="1862971" cy="31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9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Order Products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590407" y="7737434"/>
            <a:ext cx="1890236" cy="218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1"/>
              </a:lnSpc>
            </a:pPr>
            <a:r>
              <a:rPr lang="en-US" sz="17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Line items per order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852009" y="5278784"/>
            <a:ext cx="832961" cy="31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9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Orders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393866" y="5710723"/>
            <a:ext cx="1890912" cy="418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1"/>
              </a:lnSpc>
            </a:pPr>
            <a:r>
              <a:rPr lang="en-US" sz="17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Customer transactions record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39502" y="4206326"/>
            <a:ext cx="2173486" cy="31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1999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Technology Stack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499371" y="5386055"/>
            <a:ext cx="21072" cy="4669068"/>
            <a:chOff x="0" y="0"/>
            <a:chExt cx="25400" cy="562808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400" cy="5628132"/>
            </a:xfrm>
            <a:custGeom>
              <a:avLst/>
              <a:gdLst/>
              <a:ahLst/>
              <a:cxnLst/>
              <a:rect r="r" b="b" t="t" l="l"/>
              <a:pathLst>
                <a:path h="5628132" w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5615432"/>
                  </a:lnTo>
                  <a:cubicBezTo>
                    <a:pt x="25400" y="5622417"/>
                    <a:pt x="19685" y="5628132"/>
                    <a:pt x="12700" y="5628132"/>
                  </a:cubicBezTo>
                  <a:cubicBezTo>
                    <a:pt x="5715" y="5628132"/>
                    <a:pt x="0" y="5622417"/>
                    <a:pt x="0" y="5615432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827051" y="5567474"/>
            <a:ext cx="511984" cy="21072"/>
            <a:chOff x="0" y="0"/>
            <a:chExt cx="617144" cy="25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17093" cy="25400"/>
            </a:xfrm>
            <a:custGeom>
              <a:avLst/>
              <a:gdLst/>
              <a:ahLst/>
              <a:cxnLst/>
              <a:rect r="r" b="b" t="t" l="l"/>
              <a:pathLst>
                <a:path h="25400" w="617093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04393" y="0"/>
                  </a:lnTo>
                  <a:cubicBezTo>
                    <a:pt x="611378" y="0"/>
                    <a:pt x="617093" y="5715"/>
                    <a:pt x="617093" y="12700"/>
                  </a:cubicBezTo>
                  <a:cubicBezTo>
                    <a:pt x="617093" y="19685"/>
                    <a:pt x="611378" y="25400"/>
                    <a:pt x="60439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307427" y="5375519"/>
            <a:ext cx="404981" cy="404981"/>
            <a:chOff x="0" y="0"/>
            <a:chExt cx="488163" cy="48816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8188" cy="488188"/>
            </a:xfrm>
            <a:custGeom>
              <a:avLst/>
              <a:gdLst/>
              <a:ahLst/>
              <a:cxnLst/>
              <a:rect r="r" b="b" t="t" l="l"/>
              <a:pathLst>
                <a:path h="488188" w="488188">
                  <a:moveTo>
                    <a:pt x="0" y="244094"/>
                  </a:moveTo>
                  <a:cubicBezTo>
                    <a:pt x="0" y="109220"/>
                    <a:pt x="109220" y="0"/>
                    <a:pt x="244094" y="0"/>
                  </a:cubicBezTo>
                  <a:cubicBezTo>
                    <a:pt x="378968" y="0"/>
                    <a:pt x="488188" y="109220"/>
                    <a:pt x="488188" y="244094"/>
                  </a:cubicBezTo>
                  <a:cubicBezTo>
                    <a:pt x="488188" y="378968"/>
                    <a:pt x="378968" y="488188"/>
                    <a:pt x="244094" y="488188"/>
                  </a:cubicBezTo>
                  <a:cubicBezTo>
                    <a:pt x="109220" y="488188"/>
                    <a:pt x="0" y="378841"/>
                    <a:pt x="0" y="244094"/>
                  </a:cubicBezTo>
                  <a:close/>
                </a:path>
              </a:pathLst>
            </a:custGeom>
            <a:solidFill>
              <a:srgbClr val="0A081B"/>
            </a:solidFill>
            <a:ln w="19050" cap="sq">
              <a:solidFill>
                <a:srgbClr val="16FFBB"/>
              </a:solidFill>
              <a:prstDash val="solid"/>
              <a:miter/>
            </a:ln>
          </p:spPr>
        </p:sp>
      </p:grpSp>
      <p:sp>
        <p:nvSpPr>
          <p:cNvPr name="Freeform 41" id="41" descr="preencoded.png"/>
          <p:cNvSpPr/>
          <p:nvPr/>
        </p:nvSpPr>
        <p:spPr>
          <a:xfrm flipH="false" flipV="false" rot="0">
            <a:off x="13396150" y="5464253"/>
            <a:ext cx="227513" cy="227513"/>
          </a:xfrm>
          <a:custGeom>
            <a:avLst/>
            <a:gdLst/>
            <a:ahLst/>
            <a:cxnLst/>
            <a:rect r="r" b="b" t="t" l="l"/>
            <a:pathLst>
              <a:path h="227513" w="227513">
                <a:moveTo>
                  <a:pt x="0" y="0"/>
                </a:moveTo>
                <a:lnTo>
                  <a:pt x="227513" y="0"/>
                </a:lnTo>
                <a:lnTo>
                  <a:pt x="227513" y="227513"/>
                </a:lnTo>
                <a:lnTo>
                  <a:pt x="0" y="2275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816" r="0" b="-6816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1804423" y="5398222"/>
            <a:ext cx="860703" cy="31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95"/>
              </a:lnSpc>
            </a:pPr>
            <a:r>
              <a:rPr lang="en-US" sz="19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Python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531758" y="5689621"/>
            <a:ext cx="313336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79"/>
              </a:lnSpc>
            </a:pPr>
            <a:r>
              <a:rPr lang="en-US" sz="189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Data loading &amp; transformation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3680789" y="6420717"/>
            <a:ext cx="511984" cy="21072"/>
            <a:chOff x="0" y="0"/>
            <a:chExt cx="617144" cy="25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17093" cy="25400"/>
            </a:xfrm>
            <a:custGeom>
              <a:avLst/>
              <a:gdLst/>
              <a:ahLst/>
              <a:cxnLst/>
              <a:rect r="r" b="b" t="t" l="l"/>
              <a:pathLst>
                <a:path h="25400" w="617093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04393" y="0"/>
                  </a:lnTo>
                  <a:cubicBezTo>
                    <a:pt x="611378" y="0"/>
                    <a:pt x="617093" y="5715"/>
                    <a:pt x="617093" y="12700"/>
                  </a:cubicBezTo>
                  <a:cubicBezTo>
                    <a:pt x="617093" y="19685"/>
                    <a:pt x="611378" y="25400"/>
                    <a:pt x="60439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307427" y="6228763"/>
            <a:ext cx="404981" cy="404981"/>
            <a:chOff x="0" y="0"/>
            <a:chExt cx="488163" cy="48816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8188" cy="488188"/>
            </a:xfrm>
            <a:custGeom>
              <a:avLst/>
              <a:gdLst/>
              <a:ahLst/>
              <a:cxnLst/>
              <a:rect r="r" b="b" t="t" l="l"/>
              <a:pathLst>
                <a:path h="488188" w="488188">
                  <a:moveTo>
                    <a:pt x="0" y="244094"/>
                  </a:moveTo>
                  <a:cubicBezTo>
                    <a:pt x="0" y="109220"/>
                    <a:pt x="109220" y="0"/>
                    <a:pt x="244094" y="0"/>
                  </a:cubicBezTo>
                  <a:cubicBezTo>
                    <a:pt x="378968" y="0"/>
                    <a:pt x="488188" y="109220"/>
                    <a:pt x="488188" y="244094"/>
                  </a:cubicBezTo>
                  <a:cubicBezTo>
                    <a:pt x="488188" y="378968"/>
                    <a:pt x="378968" y="488188"/>
                    <a:pt x="244094" y="488188"/>
                  </a:cubicBezTo>
                  <a:cubicBezTo>
                    <a:pt x="109220" y="488188"/>
                    <a:pt x="0" y="378841"/>
                    <a:pt x="0" y="244094"/>
                  </a:cubicBezTo>
                  <a:close/>
                </a:path>
              </a:pathLst>
            </a:custGeom>
            <a:solidFill>
              <a:srgbClr val="0A081B"/>
            </a:solidFill>
            <a:ln w="19050" cap="sq">
              <a:solidFill>
                <a:srgbClr val="29DDDA"/>
              </a:solidFill>
              <a:prstDash val="solid"/>
              <a:miter/>
            </a:ln>
          </p:spPr>
        </p:sp>
      </p:grpSp>
      <p:sp>
        <p:nvSpPr>
          <p:cNvPr name="Freeform 48" id="48" descr="preencoded.png"/>
          <p:cNvSpPr/>
          <p:nvPr/>
        </p:nvSpPr>
        <p:spPr>
          <a:xfrm flipH="false" flipV="false" rot="0">
            <a:off x="13396150" y="6317496"/>
            <a:ext cx="227513" cy="227513"/>
          </a:xfrm>
          <a:custGeom>
            <a:avLst/>
            <a:gdLst/>
            <a:ahLst/>
            <a:cxnLst/>
            <a:rect r="r" b="b" t="t" l="l"/>
            <a:pathLst>
              <a:path h="227513" w="227513">
                <a:moveTo>
                  <a:pt x="0" y="0"/>
                </a:moveTo>
                <a:lnTo>
                  <a:pt x="227513" y="0"/>
                </a:lnTo>
                <a:lnTo>
                  <a:pt x="227513" y="227514"/>
                </a:lnTo>
                <a:lnTo>
                  <a:pt x="0" y="2275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4547" r="0" b="-4542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354698" y="6313615"/>
            <a:ext cx="993815" cy="32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1"/>
              </a:lnSpc>
            </a:pPr>
            <a:r>
              <a:rPr lang="en-US" sz="2012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DuckDB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354698" y="6709960"/>
            <a:ext cx="3523352" cy="316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In-process analytical database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2827051" y="7217993"/>
            <a:ext cx="511984" cy="21072"/>
            <a:chOff x="0" y="0"/>
            <a:chExt cx="617144" cy="25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17093" cy="25400"/>
            </a:xfrm>
            <a:custGeom>
              <a:avLst/>
              <a:gdLst/>
              <a:ahLst/>
              <a:cxnLst/>
              <a:rect r="r" b="b" t="t" l="l"/>
              <a:pathLst>
                <a:path h="25400" w="617093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04393" y="0"/>
                  </a:lnTo>
                  <a:cubicBezTo>
                    <a:pt x="611378" y="0"/>
                    <a:pt x="617093" y="5715"/>
                    <a:pt x="617093" y="12700"/>
                  </a:cubicBezTo>
                  <a:cubicBezTo>
                    <a:pt x="617093" y="19685"/>
                    <a:pt x="611378" y="25400"/>
                    <a:pt x="60439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3307427" y="7026039"/>
            <a:ext cx="404981" cy="404981"/>
            <a:chOff x="0" y="0"/>
            <a:chExt cx="488163" cy="48816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8188" cy="488188"/>
            </a:xfrm>
            <a:custGeom>
              <a:avLst/>
              <a:gdLst/>
              <a:ahLst/>
              <a:cxnLst/>
              <a:rect r="r" b="b" t="t" l="l"/>
              <a:pathLst>
                <a:path h="488188" w="488188">
                  <a:moveTo>
                    <a:pt x="0" y="244094"/>
                  </a:moveTo>
                  <a:cubicBezTo>
                    <a:pt x="0" y="109220"/>
                    <a:pt x="109220" y="0"/>
                    <a:pt x="244094" y="0"/>
                  </a:cubicBezTo>
                  <a:cubicBezTo>
                    <a:pt x="378968" y="0"/>
                    <a:pt x="488188" y="109220"/>
                    <a:pt x="488188" y="244094"/>
                  </a:cubicBezTo>
                  <a:cubicBezTo>
                    <a:pt x="488188" y="378968"/>
                    <a:pt x="378968" y="488188"/>
                    <a:pt x="244094" y="488188"/>
                  </a:cubicBezTo>
                  <a:cubicBezTo>
                    <a:pt x="109220" y="488188"/>
                    <a:pt x="0" y="378841"/>
                    <a:pt x="0" y="244094"/>
                  </a:cubicBezTo>
                  <a:close/>
                </a:path>
              </a:pathLst>
            </a:custGeom>
            <a:solidFill>
              <a:srgbClr val="0A081B"/>
            </a:solidFill>
            <a:ln w="19050" cap="sq">
              <a:solidFill>
                <a:srgbClr val="37A7E7"/>
              </a:solidFill>
              <a:prstDash val="solid"/>
              <a:miter/>
            </a:ln>
          </p:spPr>
        </p:sp>
      </p:grpSp>
      <p:sp>
        <p:nvSpPr>
          <p:cNvPr name="Freeform 55" id="55" descr="preencoded.png"/>
          <p:cNvSpPr/>
          <p:nvPr/>
        </p:nvSpPr>
        <p:spPr>
          <a:xfrm flipH="false" flipV="false" rot="0">
            <a:off x="13396150" y="7114772"/>
            <a:ext cx="227513" cy="227513"/>
          </a:xfrm>
          <a:custGeom>
            <a:avLst/>
            <a:gdLst/>
            <a:ahLst/>
            <a:cxnLst/>
            <a:rect r="r" b="b" t="t" l="l"/>
            <a:pathLst>
              <a:path h="227513" w="227513">
                <a:moveTo>
                  <a:pt x="0" y="0"/>
                </a:moveTo>
                <a:lnTo>
                  <a:pt x="227513" y="0"/>
                </a:lnTo>
                <a:lnTo>
                  <a:pt x="227513" y="227514"/>
                </a:lnTo>
                <a:lnTo>
                  <a:pt x="0" y="2275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5907" t="0" r="-15907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2143037" y="7098978"/>
            <a:ext cx="522089" cy="31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95"/>
              </a:lnSpc>
            </a:pPr>
            <a:r>
              <a:rPr lang="en-US" sz="19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SQL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269939" y="7390386"/>
            <a:ext cx="3395186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79"/>
              </a:lnSpc>
            </a:pPr>
            <a:r>
              <a:rPr lang="en-US" sz="189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Business logic &amp; analytical views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3680789" y="8015269"/>
            <a:ext cx="511984" cy="21072"/>
            <a:chOff x="0" y="0"/>
            <a:chExt cx="617144" cy="25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17093" cy="25400"/>
            </a:xfrm>
            <a:custGeom>
              <a:avLst/>
              <a:gdLst/>
              <a:ahLst/>
              <a:cxnLst/>
              <a:rect r="r" b="b" t="t" l="l"/>
              <a:pathLst>
                <a:path h="25400" w="617093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04393" y="0"/>
                  </a:lnTo>
                  <a:cubicBezTo>
                    <a:pt x="611378" y="0"/>
                    <a:pt x="617093" y="5715"/>
                    <a:pt x="617093" y="12700"/>
                  </a:cubicBezTo>
                  <a:cubicBezTo>
                    <a:pt x="617093" y="19685"/>
                    <a:pt x="611378" y="25400"/>
                    <a:pt x="60439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09123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307427" y="7823315"/>
            <a:ext cx="404981" cy="404981"/>
            <a:chOff x="0" y="0"/>
            <a:chExt cx="488163" cy="48816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88188" cy="488188"/>
            </a:xfrm>
            <a:custGeom>
              <a:avLst/>
              <a:gdLst/>
              <a:ahLst/>
              <a:cxnLst/>
              <a:rect r="r" b="b" t="t" l="l"/>
              <a:pathLst>
                <a:path h="488188" w="488188">
                  <a:moveTo>
                    <a:pt x="0" y="244094"/>
                  </a:moveTo>
                  <a:cubicBezTo>
                    <a:pt x="0" y="109220"/>
                    <a:pt x="109220" y="0"/>
                    <a:pt x="244094" y="0"/>
                  </a:cubicBezTo>
                  <a:cubicBezTo>
                    <a:pt x="378968" y="0"/>
                    <a:pt x="488188" y="109220"/>
                    <a:pt x="488188" y="244094"/>
                  </a:cubicBezTo>
                  <a:cubicBezTo>
                    <a:pt x="488188" y="378968"/>
                    <a:pt x="378968" y="488188"/>
                    <a:pt x="244094" y="488188"/>
                  </a:cubicBezTo>
                  <a:cubicBezTo>
                    <a:pt x="109220" y="488188"/>
                    <a:pt x="0" y="378841"/>
                    <a:pt x="0" y="244094"/>
                  </a:cubicBezTo>
                  <a:close/>
                </a:path>
              </a:pathLst>
            </a:custGeom>
            <a:solidFill>
              <a:srgbClr val="0A081B"/>
            </a:solidFill>
            <a:ln w="19050" cap="sq">
              <a:solidFill>
                <a:srgbClr val="091231"/>
              </a:solidFill>
              <a:prstDash val="solid"/>
              <a:miter/>
            </a:ln>
          </p:spPr>
        </p:sp>
      </p:grpSp>
      <p:sp>
        <p:nvSpPr>
          <p:cNvPr name="Freeform 62" id="62" descr="preencoded.png"/>
          <p:cNvSpPr/>
          <p:nvPr/>
        </p:nvSpPr>
        <p:spPr>
          <a:xfrm flipH="false" flipV="false" rot="0">
            <a:off x="13396150" y="7912049"/>
            <a:ext cx="227513" cy="227513"/>
          </a:xfrm>
          <a:custGeom>
            <a:avLst/>
            <a:gdLst/>
            <a:ahLst/>
            <a:cxnLst/>
            <a:rect r="r" b="b" t="t" l="l"/>
            <a:pathLst>
              <a:path h="227513" w="227513">
                <a:moveTo>
                  <a:pt x="0" y="0"/>
                </a:moveTo>
                <a:lnTo>
                  <a:pt x="227513" y="0"/>
                </a:lnTo>
                <a:lnTo>
                  <a:pt x="227513" y="227513"/>
                </a:lnTo>
                <a:lnTo>
                  <a:pt x="0" y="2275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14354698" y="7808795"/>
            <a:ext cx="1093232" cy="32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1"/>
              </a:lnSpc>
            </a:pPr>
            <a:r>
              <a:rPr lang="en-US" sz="2012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Power BI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354698" y="8150171"/>
            <a:ext cx="366391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Interactive executive dashboards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2827051" y="8812545"/>
            <a:ext cx="511984" cy="21072"/>
            <a:chOff x="0" y="0"/>
            <a:chExt cx="617144" cy="25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17093" cy="25400"/>
            </a:xfrm>
            <a:custGeom>
              <a:avLst/>
              <a:gdLst/>
              <a:ahLst/>
              <a:cxnLst/>
              <a:rect r="r" b="b" t="t" l="l"/>
              <a:pathLst>
                <a:path h="25400" w="617093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04393" y="0"/>
                  </a:lnTo>
                  <a:cubicBezTo>
                    <a:pt x="611378" y="0"/>
                    <a:pt x="617093" y="5715"/>
                    <a:pt x="617093" y="12700"/>
                  </a:cubicBezTo>
                  <a:cubicBezTo>
                    <a:pt x="617093" y="19685"/>
                    <a:pt x="611378" y="25400"/>
                    <a:pt x="60439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3307427" y="8620591"/>
            <a:ext cx="404981" cy="404981"/>
            <a:chOff x="0" y="0"/>
            <a:chExt cx="488163" cy="48816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88188" cy="488188"/>
            </a:xfrm>
            <a:custGeom>
              <a:avLst/>
              <a:gdLst/>
              <a:ahLst/>
              <a:cxnLst/>
              <a:rect r="r" b="b" t="t" l="l"/>
              <a:pathLst>
                <a:path h="488188" w="488188">
                  <a:moveTo>
                    <a:pt x="0" y="244094"/>
                  </a:moveTo>
                  <a:cubicBezTo>
                    <a:pt x="0" y="109220"/>
                    <a:pt x="109220" y="0"/>
                    <a:pt x="244094" y="0"/>
                  </a:cubicBezTo>
                  <a:cubicBezTo>
                    <a:pt x="378968" y="0"/>
                    <a:pt x="488188" y="109220"/>
                    <a:pt x="488188" y="244094"/>
                  </a:cubicBezTo>
                  <a:cubicBezTo>
                    <a:pt x="488188" y="378968"/>
                    <a:pt x="378968" y="488188"/>
                    <a:pt x="244094" y="488188"/>
                  </a:cubicBezTo>
                  <a:cubicBezTo>
                    <a:pt x="109220" y="488188"/>
                    <a:pt x="0" y="378841"/>
                    <a:pt x="0" y="244094"/>
                  </a:cubicBezTo>
                  <a:close/>
                </a:path>
              </a:pathLst>
            </a:custGeom>
            <a:solidFill>
              <a:srgbClr val="0A081B"/>
            </a:solidFill>
            <a:ln w="19050" cap="sq">
              <a:solidFill>
                <a:srgbClr val="16FFBB"/>
              </a:solidFill>
              <a:prstDash val="solid"/>
              <a:miter/>
            </a:ln>
          </p:spPr>
        </p:sp>
      </p:grpSp>
      <p:sp>
        <p:nvSpPr>
          <p:cNvPr name="Freeform 69" id="69" descr="preencoded.png"/>
          <p:cNvSpPr/>
          <p:nvPr/>
        </p:nvSpPr>
        <p:spPr>
          <a:xfrm flipH="false" flipV="false" rot="0">
            <a:off x="13396150" y="8709325"/>
            <a:ext cx="227513" cy="227513"/>
          </a:xfrm>
          <a:custGeom>
            <a:avLst/>
            <a:gdLst/>
            <a:ahLst/>
            <a:cxnLst/>
            <a:rect r="r" b="b" t="t" l="l"/>
            <a:pathLst>
              <a:path h="227513" w="227513">
                <a:moveTo>
                  <a:pt x="0" y="0"/>
                </a:moveTo>
                <a:lnTo>
                  <a:pt x="227513" y="0"/>
                </a:lnTo>
                <a:lnTo>
                  <a:pt x="227513" y="227513"/>
                </a:lnTo>
                <a:lnTo>
                  <a:pt x="0" y="22751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6816" r="0" b="-6816"/>
            </a:stretch>
          </a:blipFill>
        </p:spPr>
      </p:sp>
      <p:sp>
        <p:nvSpPr>
          <p:cNvPr name="TextBox 70" id="70"/>
          <p:cNvSpPr txBox="true"/>
          <p:nvPr/>
        </p:nvSpPr>
        <p:spPr>
          <a:xfrm rot="0">
            <a:off x="11818710" y="8658068"/>
            <a:ext cx="846415" cy="31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95"/>
              </a:lnSpc>
            </a:pPr>
            <a:r>
              <a:rPr lang="en-US" sz="19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GitHub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082297" y="8949466"/>
            <a:ext cx="3582829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79"/>
              </a:lnSpc>
            </a:pPr>
            <a:r>
              <a:rPr lang="en-US" sz="189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Version control &amp; portfolio sharing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080049" y="585645"/>
            <a:ext cx="2239356" cy="461515"/>
            <a:chOff x="0" y="0"/>
            <a:chExt cx="2985808" cy="61535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985846" cy="615315"/>
            </a:xfrm>
            <a:custGeom>
              <a:avLst/>
              <a:gdLst/>
              <a:ahLst/>
              <a:cxnLst/>
              <a:rect r="r" b="b" t="t" l="l"/>
              <a:pathLst>
                <a:path h="615315" w="2985846">
                  <a:moveTo>
                    <a:pt x="0" y="307721"/>
                  </a:moveTo>
                  <a:cubicBezTo>
                    <a:pt x="0" y="137795"/>
                    <a:pt x="160339" y="0"/>
                    <a:pt x="358066" y="0"/>
                  </a:cubicBezTo>
                  <a:lnTo>
                    <a:pt x="2627787" y="0"/>
                  </a:lnTo>
                  <a:cubicBezTo>
                    <a:pt x="2825514" y="0"/>
                    <a:pt x="2985846" y="137795"/>
                    <a:pt x="2985846" y="307721"/>
                  </a:cubicBezTo>
                  <a:cubicBezTo>
                    <a:pt x="2985846" y="477647"/>
                    <a:pt x="2825513" y="615315"/>
                    <a:pt x="2627787" y="615315"/>
                  </a:cubicBezTo>
                  <a:lnTo>
                    <a:pt x="358066" y="615315"/>
                  </a:lnTo>
                  <a:cubicBezTo>
                    <a:pt x="160339" y="615315"/>
                    <a:pt x="0" y="477647"/>
                    <a:pt x="0" y="307721"/>
                  </a:cubicBezTo>
                  <a:close/>
                </a:path>
              </a:pathLst>
            </a:custGeom>
            <a:solidFill>
              <a:srgbClr val="004D36"/>
            </a:solid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1262215" y="686257"/>
            <a:ext cx="1942386" cy="278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1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02 — FOUNDATION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049" y="858288"/>
            <a:ext cx="1612849" cy="292894"/>
            <a:chOff x="0" y="0"/>
            <a:chExt cx="2150466" cy="3905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0491" cy="390525"/>
            </a:xfrm>
            <a:custGeom>
              <a:avLst/>
              <a:gdLst/>
              <a:ahLst/>
              <a:cxnLst/>
              <a:rect r="r" b="b" t="t" l="l"/>
              <a:pathLst>
                <a:path h="390525" w="2150491">
                  <a:moveTo>
                    <a:pt x="0" y="195326"/>
                  </a:moveTo>
                  <a:cubicBezTo>
                    <a:pt x="0" y="87376"/>
                    <a:pt x="87376" y="0"/>
                    <a:pt x="195199" y="0"/>
                  </a:cubicBezTo>
                  <a:lnTo>
                    <a:pt x="1955165" y="0"/>
                  </a:lnTo>
                  <a:cubicBezTo>
                    <a:pt x="2062988" y="0"/>
                    <a:pt x="2150491" y="87376"/>
                    <a:pt x="2150491" y="195199"/>
                  </a:cubicBezTo>
                  <a:cubicBezTo>
                    <a:pt x="2150491" y="303022"/>
                    <a:pt x="2063115" y="390525"/>
                    <a:pt x="1955165" y="390525"/>
                  </a:cubicBezTo>
                  <a:lnTo>
                    <a:pt x="195326" y="390525"/>
                  </a:lnTo>
                  <a:cubicBezTo>
                    <a:pt x="87376" y="390525"/>
                    <a:pt x="0" y="303149"/>
                    <a:pt x="0" y="195326"/>
                  </a:cubicBezTo>
                  <a:close/>
                </a:path>
              </a:pathLst>
            </a:custGeom>
            <a:solidFill>
              <a:srgbClr val="004D3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95683" y="925563"/>
            <a:ext cx="2295973" cy="167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2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04 — METHODOLOGY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049" y="1170832"/>
            <a:ext cx="1612791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End-to-End Analytics Pipeline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0049" y="1799330"/>
            <a:ext cx="17042311" cy="260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5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From raw CSV files to executive-ready dashboards — a reproducible workflow built for scale and clarity.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46419" y="2195065"/>
            <a:ext cx="15995009" cy="6897443"/>
            <a:chOff x="0" y="0"/>
            <a:chExt cx="21326678" cy="9196591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21326729" cy="9196578"/>
            </a:xfrm>
            <a:custGeom>
              <a:avLst/>
              <a:gdLst/>
              <a:ahLst/>
              <a:cxnLst/>
              <a:rect r="r" b="b" t="t" l="l"/>
              <a:pathLst>
                <a:path h="9196578" w="21326729">
                  <a:moveTo>
                    <a:pt x="0" y="0"/>
                  </a:moveTo>
                  <a:lnTo>
                    <a:pt x="21326729" y="0"/>
                  </a:lnTo>
                  <a:lnTo>
                    <a:pt x="21326729" y="9196578"/>
                  </a:lnTo>
                  <a:lnTo>
                    <a:pt x="0" y="91965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" r="0" b="-37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222697" y="7781115"/>
            <a:ext cx="3225546" cy="431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SQL Analysis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22697" y="6184468"/>
            <a:ext cx="3225546" cy="431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Store in DuckDB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22697" y="4603956"/>
            <a:ext cx="3225546" cy="431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Load with Python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22697" y="3007309"/>
            <a:ext cx="3225546" cy="431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Ingest CSV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049" y="875852"/>
            <a:ext cx="1838173" cy="432197"/>
            <a:chOff x="0" y="0"/>
            <a:chExt cx="2450897" cy="5762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50973" cy="576199"/>
            </a:xfrm>
            <a:custGeom>
              <a:avLst/>
              <a:gdLst/>
              <a:ahLst/>
              <a:cxnLst/>
              <a:rect r="r" b="b" t="t" l="l"/>
              <a:pathLst>
                <a:path h="576199" w="2450973">
                  <a:moveTo>
                    <a:pt x="0" y="288163"/>
                  </a:moveTo>
                  <a:cubicBezTo>
                    <a:pt x="0" y="129032"/>
                    <a:pt x="129032" y="0"/>
                    <a:pt x="288163" y="0"/>
                  </a:cubicBezTo>
                  <a:lnTo>
                    <a:pt x="2162810" y="0"/>
                  </a:lnTo>
                  <a:cubicBezTo>
                    <a:pt x="2321941" y="0"/>
                    <a:pt x="2450973" y="129032"/>
                    <a:pt x="2450973" y="288163"/>
                  </a:cubicBezTo>
                  <a:cubicBezTo>
                    <a:pt x="2450973" y="447294"/>
                    <a:pt x="2321941" y="576199"/>
                    <a:pt x="2162810" y="576199"/>
                  </a:cubicBezTo>
                  <a:lnTo>
                    <a:pt x="288163" y="576199"/>
                  </a:lnTo>
                  <a:cubicBezTo>
                    <a:pt x="129032" y="576199"/>
                    <a:pt x="0" y="447294"/>
                    <a:pt x="0" y="288163"/>
                  </a:cubicBezTo>
                  <a:close/>
                </a:path>
              </a:pathLst>
            </a:custGeom>
            <a:solidFill>
              <a:srgbClr val="004D3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50604" y="961130"/>
            <a:ext cx="2411463" cy="261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05 —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049" y="1374724"/>
            <a:ext cx="16127911" cy="670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39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Business Questions Solved Using SQL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1080049" y="2438248"/>
            <a:ext cx="5201098" cy="2887713"/>
          </a:xfrm>
          <a:custGeom>
            <a:avLst/>
            <a:gdLst/>
            <a:ahLst/>
            <a:cxnLst/>
            <a:rect r="r" b="b" t="t" l="l"/>
            <a:pathLst>
              <a:path h="2887713" w="5201098">
                <a:moveTo>
                  <a:pt x="0" y="0"/>
                </a:moveTo>
                <a:lnTo>
                  <a:pt x="5201098" y="0"/>
                </a:lnTo>
                <a:lnTo>
                  <a:pt x="5201098" y="2887713"/>
                </a:lnTo>
                <a:lnTo>
                  <a:pt x="0" y="28877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9" r="0" b="-49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509810" y="2651522"/>
            <a:ext cx="341262" cy="426691"/>
            <a:chOff x="0" y="0"/>
            <a:chExt cx="455016" cy="5689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5016" cy="568920"/>
            </a:xfrm>
            <a:custGeom>
              <a:avLst/>
              <a:gdLst/>
              <a:ahLst/>
              <a:cxnLst/>
              <a:rect r="r" b="b" t="t" l="l"/>
              <a:pathLst>
                <a:path h="568920" w="455016">
                  <a:moveTo>
                    <a:pt x="0" y="0"/>
                  </a:moveTo>
                  <a:lnTo>
                    <a:pt x="455016" y="0"/>
                  </a:lnTo>
                  <a:lnTo>
                    <a:pt x="455016" y="568920"/>
                  </a:lnTo>
                  <a:lnTo>
                    <a:pt x="0" y="5689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422" t="0" r="-11042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55016" cy="5879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02556" y="3557140"/>
            <a:ext cx="4556074" cy="41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Peak Ordering Hours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02556" y="4061965"/>
            <a:ext cx="4556074" cy="94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2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When do customers order most? Identified daily demand curves.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6543380" y="2438248"/>
            <a:ext cx="5201098" cy="2887713"/>
          </a:xfrm>
          <a:custGeom>
            <a:avLst/>
            <a:gdLst/>
            <a:ahLst/>
            <a:cxnLst/>
            <a:rect r="r" b="b" t="t" l="l"/>
            <a:pathLst>
              <a:path h="2887713" w="5201098">
                <a:moveTo>
                  <a:pt x="0" y="0"/>
                </a:moveTo>
                <a:lnTo>
                  <a:pt x="5201097" y="0"/>
                </a:lnTo>
                <a:lnTo>
                  <a:pt x="5201097" y="2887713"/>
                </a:lnTo>
                <a:lnTo>
                  <a:pt x="0" y="28877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49" r="0" b="-49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8973150" y="2651522"/>
            <a:ext cx="341262" cy="426691"/>
            <a:chOff x="0" y="0"/>
            <a:chExt cx="455016" cy="5689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5016" cy="568920"/>
            </a:xfrm>
            <a:custGeom>
              <a:avLst/>
              <a:gdLst/>
              <a:ahLst/>
              <a:cxnLst/>
              <a:rect r="r" b="b" t="t" l="l"/>
              <a:pathLst>
                <a:path h="568920" w="455016">
                  <a:moveTo>
                    <a:pt x="0" y="0"/>
                  </a:moveTo>
                  <a:lnTo>
                    <a:pt x="455016" y="0"/>
                  </a:lnTo>
                  <a:lnTo>
                    <a:pt x="455016" y="568920"/>
                  </a:lnTo>
                  <a:lnTo>
                    <a:pt x="0" y="5689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422" t="0" r="-11042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55016" cy="5879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865887" y="3557140"/>
            <a:ext cx="4556074" cy="41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Top Purchased Products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65887" y="4061965"/>
            <a:ext cx="4556074" cy="94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2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Which products drive volume? Ranked by order frequency.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12006710" y="2438248"/>
            <a:ext cx="5201098" cy="2887713"/>
          </a:xfrm>
          <a:custGeom>
            <a:avLst/>
            <a:gdLst/>
            <a:ahLst/>
            <a:cxnLst/>
            <a:rect r="r" b="b" t="t" l="l"/>
            <a:pathLst>
              <a:path h="2887713" w="5201098">
                <a:moveTo>
                  <a:pt x="0" y="0"/>
                </a:moveTo>
                <a:lnTo>
                  <a:pt x="5201098" y="0"/>
                </a:lnTo>
                <a:lnTo>
                  <a:pt x="5201098" y="2887713"/>
                </a:lnTo>
                <a:lnTo>
                  <a:pt x="0" y="28877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49" r="0" b="-49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4436481" y="2651522"/>
            <a:ext cx="341262" cy="426691"/>
            <a:chOff x="0" y="0"/>
            <a:chExt cx="455016" cy="56892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5016" cy="568920"/>
            </a:xfrm>
            <a:custGeom>
              <a:avLst/>
              <a:gdLst/>
              <a:ahLst/>
              <a:cxnLst/>
              <a:rect r="r" b="b" t="t" l="l"/>
              <a:pathLst>
                <a:path h="568920" w="455016">
                  <a:moveTo>
                    <a:pt x="0" y="0"/>
                  </a:moveTo>
                  <a:lnTo>
                    <a:pt x="455016" y="0"/>
                  </a:lnTo>
                  <a:lnTo>
                    <a:pt x="455016" y="568920"/>
                  </a:lnTo>
                  <a:lnTo>
                    <a:pt x="0" y="5689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422" t="0" r="-11042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55016" cy="5879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329217" y="3557140"/>
            <a:ext cx="4556074" cy="41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Department Performance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29217" y="4061965"/>
            <a:ext cx="4556074" cy="94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2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Which departments perform best? Measured by revenue share.</a:t>
            </a:r>
          </a:p>
        </p:txBody>
      </p:sp>
      <p:sp>
        <p:nvSpPr>
          <p:cNvPr name="Freeform 28" id="28" descr="preencoded.png"/>
          <p:cNvSpPr/>
          <p:nvPr/>
        </p:nvSpPr>
        <p:spPr>
          <a:xfrm flipH="false" flipV="false" rot="0">
            <a:off x="1080049" y="5588194"/>
            <a:ext cx="16127759" cy="2450306"/>
          </a:xfrm>
          <a:custGeom>
            <a:avLst/>
            <a:gdLst/>
            <a:ahLst/>
            <a:cxnLst/>
            <a:rect r="r" b="b" t="t" l="l"/>
            <a:pathLst>
              <a:path h="2450306" w="16127759">
                <a:moveTo>
                  <a:pt x="0" y="0"/>
                </a:moveTo>
                <a:lnTo>
                  <a:pt x="16127759" y="0"/>
                </a:lnTo>
                <a:lnTo>
                  <a:pt x="16127759" y="2450306"/>
                </a:lnTo>
                <a:lnTo>
                  <a:pt x="0" y="24503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22" r="0" b="-122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8973150" y="5801468"/>
            <a:ext cx="341262" cy="426691"/>
            <a:chOff x="0" y="0"/>
            <a:chExt cx="455016" cy="56892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5016" cy="568920"/>
            </a:xfrm>
            <a:custGeom>
              <a:avLst/>
              <a:gdLst/>
              <a:ahLst/>
              <a:cxnLst/>
              <a:rect r="r" b="b" t="t" l="l"/>
              <a:pathLst>
                <a:path h="568920" w="455016">
                  <a:moveTo>
                    <a:pt x="0" y="0"/>
                  </a:moveTo>
                  <a:lnTo>
                    <a:pt x="455016" y="0"/>
                  </a:lnTo>
                  <a:lnTo>
                    <a:pt x="455016" y="568920"/>
                  </a:lnTo>
                  <a:lnTo>
                    <a:pt x="0" y="5689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422" t="0" r="-110422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455016" cy="5879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402556" y="6707086"/>
            <a:ext cx="15482735" cy="41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Customer Segmentation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02556" y="7211911"/>
            <a:ext cx="15482735" cy="50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2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How are customers grouped? Segmented by ordering behavior.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80049" y="8333480"/>
            <a:ext cx="16127911" cy="1077668"/>
            <a:chOff x="0" y="0"/>
            <a:chExt cx="21503881" cy="14368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503895" cy="1436878"/>
            </a:xfrm>
            <a:custGeom>
              <a:avLst/>
              <a:gdLst/>
              <a:ahLst/>
              <a:cxnLst/>
              <a:rect r="r" b="b" t="t" l="l"/>
              <a:pathLst>
                <a:path h="1436878" w="21503895">
                  <a:moveTo>
                    <a:pt x="0" y="568960"/>
                  </a:moveTo>
                  <a:cubicBezTo>
                    <a:pt x="0" y="254762"/>
                    <a:pt x="254762" y="0"/>
                    <a:pt x="568960" y="0"/>
                  </a:cubicBezTo>
                  <a:lnTo>
                    <a:pt x="20934935" y="0"/>
                  </a:lnTo>
                  <a:cubicBezTo>
                    <a:pt x="21249132" y="0"/>
                    <a:pt x="21503895" y="254762"/>
                    <a:pt x="21503895" y="568960"/>
                  </a:cubicBezTo>
                  <a:lnTo>
                    <a:pt x="21503895" y="867918"/>
                  </a:lnTo>
                  <a:cubicBezTo>
                    <a:pt x="21503895" y="1182116"/>
                    <a:pt x="21249132" y="1436878"/>
                    <a:pt x="20934935" y="1436878"/>
                  </a:cubicBezTo>
                  <a:lnTo>
                    <a:pt x="568960" y="1436878"/>
                  </a:lnTo>
                  <a:cubicBezTo>
                    <a:pt x="254762" y="1436878"/>
                    <a:pt x="0" y="1182116"/>
                    <a:pt x="0" y="867918"/>
                  </a:cubicBezTo>
                  <a:close/>
                </a:path>
              </a:pathLst>
            </a:custGeom>
            <a:solidFill>
              <a:srgbClr val="00805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64456" y="8725643"/>
            <a:ext cx="355549" cy="284407"/>
            <a:chOff x="0" y="0"/>
            <a:chExt cx="474066" cy="379209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474091" cy="379222"/>
            </a:xfrm>
            <a:custGeom>
              <a:avLst/>
              <a:gdLst/>
              <a:ahLst/>
              <a:cxnLst/>
              <a:rect r="r" b="b" t="t" l="l"/>
              <a:pathLst>
                <a:path h="379222" w="474091">
                  <a:moveTo>
                    <a:pt x="0" y="0"/>
                  </a:moveTo>
                  <a:lnTo>
                    <a:pt x="474091" y="0"/>
                  </a:lnTo>
                  <a:lnTo>
                    <a:pt x="474091" y="379222"/>
                  </a:lnTo>
                  <a:lnTo>
                    <a:pt x="0" y="379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661" t="0" r="-656" b="3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2004422" y="8600037"/>
            <a:ext cx="15833522" cy="50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2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SQL transformed raw transactional data into reusable, business-ready analytical views powering the Power BI dashboards.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049" y="884787"/>
            <a:ext cx="1683544" cy="329508"/>
            <a:chOff x="0" y="0"/>
            <a:chExt cx="2244725" cy="439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4725" cy="439420"/>
            </a:xfrm>
            <a:custGeom>
              <a:avLst/>
              <a:gdLst/>
              <a:ahLst/>
              <a:cxnLst/>
              <a:rect r="r" b="b" t="t" l="l"/>
              <a:pathLst>
                <a:path h="439420" w="2244725">
                  <a:moveTo>
                    <a:pt x="0" y="219710"/>
                  </a:moveTo>
                  <a:cubicBezTo>
                    <a:pt x="0" y="98298"/>
                    <a:pt x="98298" y="0"/>
                    <a:pt x="219710" y="0"/>
                  </a:cubicBezTo>
                  <a:lnTo>
                    <a:pt x="2025015" y="0"/>
                  </a:lnTo>
                  <a:cubicBezTo>
                    <a:pt x="2146300" y="0"/>
                    <a:pt x="2244725" y="98298"/>
                    <a:pt x="2244725" y="219710"/>
                  </a:cubicBezTo>
                  <a:cubicBezTo>
                    <a:pt x="2244725" y="341122"/>
                    <a:pt x="2146427" y="439420"/>
                    <a:pt x="2025015" y="439420"/>
                  </a:cubicBezTo>
                  <a:lnTo>
                    <a:pt x="219710" y="439420"/>
                  </a:lnTo>
                  <a:cubicBezTo>
                    <a:pt x="98298" y="439293"/>
                    <a:pt x="0" y="340995"/>
                    <a:pt x="0" y="219710"/>
                  </a:cubicBezTo>
                  <a:close/>
                </a:path>
              </a:pathLst>
            </a:custGeom>
            <a:solidFill>
              <a:srgbClr val="004D3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80049" y="2153931"/>
            <a:ext cx="10297868" cy="7104369"/>
            <a:chOff x="0" y="0"/>
            <a:chExt cx="13730491" cy="94724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30478" cy="9472477"/>
            </a:xfrm>
            <a:custGeom>
              <a:avLst/>
              <a:gdLst/>
              <a:ahLst/>
              <a:cxnLst/>
              <a:rect r="r" b="b" t="t" l="l"/>
              <a:pathLst>
                <a:path h="9472477" w="13730478">
                  <a:moveTo>
                    <a:pt x="0" y="0"/>
                  </a:moveTo>
                  <a:lnTo>
                    <a:pt x="13730478" y="0"/>
                  </a:lnTo>
                  <a:lnTo>
                    <a:pt x="13730478" y="9472477"/>
                  </a:lnTo>
                  <a:lnTo>
                    <a:pt x="0" y="9472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99" r="0" b="-29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916670" y="3409655"/>
            <a:ext cx="5300662" cy="28575"/>
            <a:chOff x="0" y="0"/>
            <a:chExt cx="706755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67550" cy="38100"/>
            </a:xfrm>
            <a:custGeom>
              <a:avLst/>
              <a:gdLst/>
              <a:ahLst/>
              <a:cxnLst/>
              <a:rect r="r" b="b" t="t" l="l"/>
              <a:pathLst>
                <a:path h="38100" w="706755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048500" y="0"/>
                  </a:lnTo>
                  <a:cubicBezTo>
                    <a:pt x="7059041" y="0"/>
                    <a:pt x="7067550" y="8509"/>
                    <a:pt x="7067550" y="19050"/>
                  </a:cubicBezTo>
                  <a:cubicBezTo>
                    <a:pt x="7067550" y="29591"/>
                    <a:pt x="7059041" y="38100"/>
                    <a:pt x="704850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E0E4E6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916670" y="6034678"/>
            <a:ext cx="5300662" cy="28575"/>
            <a:chOff x="0" y="0"/>
            <a:chExt cx="706755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67550" cy="38100"/>
            </a:xfrm>
            <a:custGeom>
              <a:avLst/>
              <a:gdLst/>
              <a:ahLst/>
              <a:cxnLst/>
              <a:rect r="r" b="b" t="t" l="l"/>
              <a:pathLst>
                <a:path h="38100" w="706755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048500" y="0"/>
                  </a:lnTo>
                  <a:cubicBezTo>
                    <a:pt x="7059041" y="0"/>
                    <a:pt x="7067550" y="8509"/>
                    <a:pt x="7067550" y="19050"/>
                  </a:cubicBezTo>
                  <a:cubicBezTo>
                    <a:pt x="7067550" y="29591"/>
                    <a:pt x="7059041" y="38100"/>
                    <a:pt x="704850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E0E4E6">
                <a:alpha val="24706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916670" y="8256689"/>
            <a:ext cx="5300662" cy="973931"/>
            <a:chOff x="0" y="0"/>
            <a:chExt cx="7067550" cy="12985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67550" cy="1298575"/>
            </a:xfrm>
            <a:custGeom>
              <a:avLst/>
              <a:gdLst/>
              <a:ahLst/>
              <a:cxnLst/>
              <a:rect r="r" b="b" t="t" l="l"/>
              <a:pathLst>
                <a:path h="1298575" w="7067550">
                  <a:moveTo>
                    <a:pt x="0" y="433959"/>
                  </a:moveTo>
                  <a:cubicBezTo>
                    <a:pt x="0" y="194310"/>
                    <a:pt x="194310" y="0"/>
                    <a:pt x="433959" y="0"/>
                  </a:cubicBezTo>
                  <a:lnTo>
                    <a:pt x="6633591" y="0"/>
                  </a:lnTo>
                  <a:cubicBezTo>
                    <a:pt x="6873240" y="0"/>
                    <a:pt x="7067550" y="194310"/>
                    <a:pt x="7067550" y="433959"/>
                  </a:cubicBezTo>
                  <a:lnTo>
                    <a:pt x="7067550" y="864616"/>
                  </a:lnTo>
                  <a:cubicBezTo>
                    <a:pt x="7067550" y="1104265"/>
                    <a:pt x="6873240" y="1298575"/>
                    <a:pt x="6633591" y="1298575"/>
                  </a:cubicBezTo>
                  <a:lnTo>
                    <a:pt x="433959" y="1298575"/>
                  </a:lnTo>
                  <a:cubicBezTo>
                    <a:pt x="194310" y="1298575"/>
                    <a:pt x="0" y="1104265"/>
                    <a:pt x="0" y="864616"/>
                  </a:cubicBezTo>
                  <a:close/>
                </a:path>
              </a:pathLst>
            </a:custGeom>
            <a:solidFill>
              <a:srgbClr val="183A1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33659" y="8566547"/>
            <a:ext cx="271167" cy="216989"/>
            <a:chOff x="0" y="0"/>
            <a:chExt cx="361556" cy="289319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361569" cy="289306"/>
            </a:xfrm>
            <a:custGeom>
              <a:avLst/>
              <a:gdLst/>
              <a:ahLst/>
              <a:cxnLst/>
              <a:rect r="r" b="b" t="t" l="l"/>
              <a:pathLst>
                <a:path h="289306" w="361569">
                  <a:moveTo>
                    <a:pt x="0" y="0"/>
                  </a:moveTo>
                  <a:lnTo>
                    <a:pt x="361569" y="0"/>
                  </a:lnTo>
                  <a:lnTo>
                    <a:pt x="361569" y="289306"/>
                  </a:lnTo>
                  <a:lnTo>
                    <a:pt x="0" y="289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49" t="0" r="-442" b="-4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10123" y="959348"/>
            <a:ext cx="2337787" cy="18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3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06 — DASHBOARD 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0049" y="1246737"/>
            <a:ext cx="16127911" cy="51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Executive Dashboard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16670" y="2110235"/>
            <a:ext cx="5300662" cy="32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Dashboard Purpose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16670" y="2554634"/>
            <a:ext cx="5300662" cy="62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7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Provides an executive overview of overall business performance at a glance.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16670" y="3635426"/>
            <a:ext cx="5300662" cy="32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Key KPIs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16670" y="4079824"/>
            <a:ext cx="5300662" cy="1729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0" indent="-205105" lvl="1">
              <a:lnSpc>
                <a:spcPts val="2325"/>
              </a:lnSpc>
              <a:buFont typeface="Arial"/>
              <a:buChar char="•"/>
            </a:pPr>
            <a:r>
              <a:rPr lang="en-US" sz="17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Total Orders</a:t>
            </a:r>
          </a:p>
          <a:p>
            <a:pPr algn="l" marL="410210" indent="-205105" lvl="1">
              <a:lnSpc>
                <a:spcPts val="2325"/>
              </a:lnSpc>
              <a:buFont typeface="Arial"/>
              <a:buChar char="•"/>
            </a:pPr>
            <a:r>
              <a:rPr lang="en-US" sz="17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Total Customers</a:t>
            </a:r>
          </a:p>
          <a:p>
            <a:pPr algn="l" marL="410210" indent="-205105" lvl="1">
              <a:lnSpc>
                <a:spcPts val="2325"/>
              </a:lnSpc>
              <a:buFont typeface="Arial"/>
              <a:buChar char="•"/>
            </a:pPr>
            <a:r>
              <a:rPr lang="en-US" sz="17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Total Products</a:t>
            </a:r>
          </a:p>
          <a:p>
            <a:pPr algn="l" marL="410210" indent="-205105" lvl="1">
              <a:lnSpc>
                <a:spcPts val="2325"/>
              </a:lnSpc>
              <a:buFont typeface="Arial"/>
              <a:buChar char="•"/>
            </a:pPr>
            <a:r>
              <a:rPr lang="en-US" sz="17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Average Basket Size</a:t>
            </a:r>
          </a:p>
          <a:p>
            <a:pPr algn="l" marL="410210" indent="-205105" lvl="1">
              <a:lnSpc>
                <a:spcPts val="2325"/>
              </a:lnSpc>
              <a:buFont typeface="Arial"/>
              <a:buChar char="•"/>
            </a:pPr>
            <a:r>
              <a:rPr lang="en-US" sz="17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Overall Reorder Rate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16670" y="6260459"/>
            <a:ext cx="5300662" cy="32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Core Visuals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16670" y="6704857"/>
            <a:ext cx="5300662" cy="138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0" indent="-205105" lvl="1">
              <a:lnSpc>
                <a:spcPts val="2325"/>
              </a:lnSpc>
              <a:buFont typeface="Arial"/>
              <a:buChar char="•"/>
            </a:pPr>
            <a:r>
              <a:rPr lang="en-US" sz="17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Orders by Hour</a:t>
            </a:r>
          </a:p>
          <a:p>
            <a:pPr algn="l" marL="410210" indent="-205105" lvl="1">
              <a:lnSpc>
                <a:spcPts val="2325"/>
              </a:lnSpc>
              <a:buFont typeface="Arial"/>
              <a:buChar char="•"/>
            </a:pPr>
            <a:r>
              <a:rPr lang="en-US" sz="17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Orders by Day of Week</a:t>
            </a:r>
          </a:p>
          <a:p>
            <a:pPr algn="l" marL="410210" indent="-205105" lvl="1">
              <a:lnSpc>
                <a:spcPts val="2325"/>
              </a:lnSpc>
              <a:buFont typeface="Arial"/>
              <a:buChar char="•"/>
            </a:pPr>
            <a:r>
              <a:rPr lang="en-US" sz="17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Customer Segmentation</a:t>
            </a:r>
          </a:p>
          <a:p>
            <a:pPr algn="l" marL="410210" indent="-205105" lvl="1">
              <a:lnSpc>
                <a:spcPts val="2325"/>
              </a:lnSpc>
              <a:buFont typeface="Arial"/>
              <a:buChar char="•"/>
            </a:pPr>
            <a:r>
              <a:rPr lang="en-US" sz="17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Department Performance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21816" y="8409984"/>
            <a:ext cx="4378528" cy="62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7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Enables quick executive decision-making with real-time KPI tracking.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049" y="916038"/>
            <a:ext cx="1935956" cy="373561"/>
            <a:chOff x="0" y="0"/>
            <a:chExt cx="2581275" cy="4980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81275" cy="498094"/>
            </a:xfrm>
            <a:custGeom>
              <a:avLst/>
              <a:gdLst/>
              <a:ahLst/>
              <a:cxnLst/>
              <a:rect r="r" b="b" t="t" l="l"/>
              <a:pathLst>
                <a:path h="498094" w="2581275">
                  <a:moveTo>
                    <a:pt x="0" y="249047"/>
                  </a:moveTo>
                  <a:cubicBezTo>
                    <a:pt x="0" y="111506"/>
                    <a:pt x="111506" y="0"/>
                    <a:pt x="249047" y="0"/>
                  </a:cubicBezTo>
                  <a:lnTo>
                    <a:pt x="2332228" y="0"/>
                  </a:lnTo>
                  <a:cubicBezTo>
                    <a:pt x="2469769" y="0"/>
                    <a:pt x="2581275" y="111506"/>
                    <a:pt x="2581275" y="249047"/>
                  </a:cubicBezTo>
                  <a:cubicBezTo>
                    <a:pt x="2581275" y="386588"/>
                    <a:pt x="2469769" y="498094"/>
                    <a:pt x="2332228" y="498094"/>
                  </a:cubicBezTo>
                  <a:lnTo>
                    <a:pt x="249047" y="498094"/>
                  </a:lnTo>
                  <a:cubicBezTo>
                    <a:pt x="111506" y="498094"/>
                    <a:pt x="0" y="386588"/>
                    <a:pt x="0" y="249047"/>
                  </a:cubicBezTo>
                  <a:close/>
                </a:path>
              </a:pathLst>
            </a:custGeom>
            <a:solidFill>
              <a:srgbClr val="004D3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80049" y="2428723"/>
            <a:ext cx="9712972" cy="5503920"/>
            <a:chOff x="0" y="0"/>
            <a:chExt cx="12582322" cy="71298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82271" cy="7129907"/>
            </a:xfrm>
            <a:custGeom>
              <a:avLst/>
              <a:gdLst/>
              <a:ahLst/>
              <a:cxnLst/>
              <a:rect r="r" b="b" t="t" l="l"/>
              <a:pathLst>
                <a:path h="7129907" w="12582271">
                  <a:moveTo>
                    <a:pt x="0" y="0"/>
                  </a:moveTo>
                  <a:lnTo>
                    <a:pt x="12582271" y="0"/>
                  </a:lnTo>
                  <a:lnTo>
                    <a:pt x="12582271" y="7129907"/>
                  </a:lnTo>
                  <a:lnTo>
                    <a:pt x="0" y="7129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6" t="0" r="-486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126095" y="4244578"/>
            <a:ext cx="6091238" cy="28575"/>
            <a:chOff x="0" y="0"/>
            <a:chExt cx="812165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1650" cy="38100"/>
            </a:xfrm>
            <a:custGeom>
              <a:avLst/>
              <a:gdLst/>
              <a:ahLst/>
              <a:cxnLst/>
              <a:rect r="r" b="b" t="t" l="l"/>
              <a:pathLst>
                <a:path h="38100" w="812165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102600" y="0"/>
                  </a:lnTo>
                  <a:cubicBezTo>
                    <a:pt x="8113141" y="0"/>
                    <a:pt x="8121650" y="8509"/>
                    <a:pt x="8121650" y="19050"/>
                  </a:cubicBezTo>
                  <a:cubicBezTo>
                    <a:pt x="8121650" y="29591"/>
                    <a:pt x="8113141" y="38100"/>
                    <a:pt x="810260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E0E4E6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0049" y="8347472"/>
            <a:ext cx="122930" cy="122930"/>
            <a:chOff x="0" y="0"/>
            <a:chExt cx="163906" cy="1639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3830" cy="163830"/>
            </a:xfrm>
            <a:custGeom>
              <a:avLst/>
              <a:gdLst/>
              <a:ahLst/>
              <a:cxnLst/>
              <a:rect r="r" b="b" t="t" l="l"/>
              <a:pathLst>
                <a:path h="163830" w="163830">
                  <a:moveTo>
                    <a:pt x="0" y="81915"/>
                  </a:moveTo>
                  <a:cubicBezTo>
                    <a:pt x="0" y="36703"/>
                    <a:pt x="36703" y="0"/>
                    <a:pt x="81915" y="0"/>
                  </a:cubicBezTo>
                  <a:cubicBezTo>
                    <a:pt x="127127" y="0"/>
                    <a:pt x="163830" y="36703"/>
                    <a:pt x="163830" y="81915"/>
                  </a:cubicBezTo>
                  <a:cubicBezTo>
                    <a:pt x="163830" y="127127"/>
                    <a:pt x="127127" y="163830"/>
                    <a:pt x="81915" y="163830"/>
                  </a:cubicBezTo>
                  <a:cubicBezTo>
                    <a:pt x="36703" y="163830"/>
                    <a:pt x="0" y="127254"/>
                    <a:pt x="0" y="81915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173113" y="8347472"/>
            <a:ext cx="122930" cy="122930"/>
            <a:chOff x="0" y="0"/>
            <a:chExt cx="163906" cy="1639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3830" cy="163830"/>
            </a:xfrm>
            <a:custGeom>
              <a:avLst/>
              <a:gdLst/>
              <a:ahLst/>
              <a:cxnLst/>
              <a:rect r="r" b="b" t="t" l="l"/>
              <a:pathLst>
                <a:path h="163830" w="163830">
                  <a:moveTo>
                    <a:pt x="0" y="81915"/>
                  </a:moveTo>
                  <a:cubicBezTo>
                    <a:pt x="0" y="36703"/>
                    <a:pt x="36703" y="0"/>
                    <a:pt x="81915" y="0"/>
                  </a:cubicBezTo>
                  <a:cubicBezTo>
                    <a:pt x="127127" y="0"/>
                    <a:pt x="163830" y="36703"/>
                    <a:pt x="163830" y="81915"/>
                  </a:cubicBezTo>
                  <a:cubicBezTo>
                    <a:pt x="163830" y="127127"/>
                    <a:pt x="127127" y="163830"/>
                    <a:pt x="81915" y="163830"/>
                  </a:cubicBezTo>
                  <a:cubicBezTo>
                    <a:pt x="36703" y="163830"/>
                    <a:pt x="0" y="127254"/>
                    <a:pt x="0" y="81915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266339" y="8347472"/>
            <a:ext cx="122930" cy="122930"/>
            <a:chOff x="0" y="0"/>
            <a:chExt cx="163906" cy="1639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3830" cy="163830"/>
            </a:xfrm>
            <a:custGeom>
              <a:avLst/>
              <a:gdLst/>
              <a:ahLst/>
              <a:cxnLst/>
              <a:rect r="r" b="b" t="t" l="l"/>
              <a:pathLst>
                <a:path h="163830" w="163830">
                  <a:moveTo>
                    <a:pt x="0" y="81915"/>
                  </a:moveTo>
                  <a:cubicBezTo>
                    <a:pt x="0" y="36703"/>
                    <a:pt x="36703" y="0"/>
                    <a:pt x="81915" y="0"/>
                  </a:cubicBezTo>
                  <a:cubicBezTo>
                    <a:pt x="127127" y="0"/>
                    <a:pt x="163830" y="36703"/>
                    <a:pt x="163830" y="81915"/>
                  </a:cubicBezTo>
                  <a:cubicBezTo>
                    <a:pt x="163830" y="127127"/>
                    <a:pt x="127127" y="163830"/>
                    <a:pt x="81915" y="163830"/>
                  </a:cubicBezTo>
                  <a:cubicBezTo>
                    <a:pt x="36703" y="163830"/>
                    <a:pt x="0" y="127254"/>
                    <a:pt x="0" y="81915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359555" y="8347472"/>
            <a:ext cx="122930" cy="122930"/>
            <a:chOff x="0" y="0"/>
            <a:chExt cx="163906" cy="1639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3830" cy="163830"/>
            </a:xfrm>
            <a:custGeom>
              <a:avLst/>
              <a:gdLst/>
              <a:ahLst/>
              <a:cxnLst/>
              <a:rect r="r" b="b" t="t" l="l"/>
              <a:pathLst>
                <a:path h="163830" w="163830">
                  <a:moveTo>
                    <a:pt x="0" y="81915"/>
                  </a:moveTo>
                  <a:cubicBezTo>
                    <a:pt x="0" y="36703"/>
                    <a:pt x="36703" y="0"/>
                    <a:pt x="81915" y="0"/>
                  </a:cubicBezTo>
                  <a:cubicBezTo>
                    <a:pt x="127127" y="0"/>
                    <a:pt x="163830" y="36703"/>
                    <a:pt x="163830" y="81915"/>
                  </a:cubicBezTo>
                  <a:cubicBezTo>
                    <a:pt x="163830" y="127127"/>
                    <a:pt x="127127" y="163830"/>
                    <a:pt x="81915" y="163830"/>
                  </a:cubicBezTo>
                  <a:cubicBezTo>
                    <a:pt x="36703" y="163830"/>
                    <a:pt x="0" y="127254"/>
                    <a:pt x="0" y="81915"/>
                  </a:cubicBezTo>
                  <a:close/>
                </a:path>
              </a:pathLst>
            </a:custGeom>
            <a:solidFill>
              <a:srgbClr val="091231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27534" y="999230"/>
            <a:ext cx="2555377" cy="21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7"/>
              </a:lnSpc>
            </a:pPr>
            <a:r>
              <a:rPr lang="en-US" sz="15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07 — DASHBOARD 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0049" y="1329776"/>
            <a:ext cx="16127911" cy="584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3"/>
              </a:lnSpc>
            </a:pPr>
            <a:r>
              <a:rPr lang="en-US" sz="34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Customer &amp; Product Insights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26095" y="3602088"/>
            <a:ext cx="6091238" cy="36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Key Visuals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26095" y="4535986"/>
            <a:ext cx="6091238" cy="36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Business Value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26095" y="5044831"/>
            <a:ext cx="6091238" cy="166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70" indent="-229235" lvl="1">
              <a:lnSpc>
                <a:spcPts val="2736"/>
              </a:lnSpc>
              <a:buFont typeface="Arial"/>
              <a:buChar char="•"/>
            </a:pPr>
            <a:r>
              <a:rPr lang="en-US" sz="1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Improve inventory planning</a:t>
            </a:r>
          </a:p>
          <a:p>
            <a:pPr algn="l" marL="458470" indent="-229235" lvl="1">
              <a:lnSpc>
                <a:spcPts val="2736"/>
              </a:lnSpc>
              <a:buFont typeface="Arial"/>
              <a:buChar char="•"/>
            </a:pPr>
            <a:r>
              <a:rPr lang="en-US" sz="1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Increase customer retention</a:t>
            </a:r>
          </a:p>
          <a:p>
            <a:pPr algn="l" marL="458470" indent="-229235" lvl="1">
              <a:lnSpc>
                <a:spcPts val="2736"/>
              </a:lnSpc>
              <a:buFont typeface="Arial"/>
              <a:buChar char="•"/>
            </a:pPr>
            <a:r>
              <a:rPr lang="en-US" sz="1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Identify recurring revenue opportunities</a:t>
            </a:r>
          </a:p>
          <a:p>
            <a:pPr algn="l" marL="458470" indent="-229235" lvl="1">
              <a:lnSpc>
                <a:spcPts val="2736"/>
              </a:lnSpc>
              <a:buFont typeface="Arial"/>
              <a:buChar char="•"/>
            </a:pPr>
            <a:r>
              <a:rPr lang="en-US" sz="1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Support targeted marketing campaigns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98832" y="8197901"/>
            <a:ext cx="3529460" cy="36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Top Purchased Products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98832" y="8628459"/>
            <a:ext cx="3529460" cy="40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Ranked by frequency and volume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491905" y="8197901"/>
            <a:ext cx="3529613" cy="36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Department Reorder Rate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491905" y="8628459"/>
            <a:ext cx="3529613" cy="40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Loyalty indicators by category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85122" y="8197901"/>
            <a:ext cx="3529613" cy="702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Subscription Opportunity Products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85122" y="8970016"/>
            <a:ext cx="3529613" cy="40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High-reorder candidates flagged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678348" y="8197901"/>
            <a:ext cx="3529613" cy="36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Customer Retention Trends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78348" y="8628459"/>
            <a:ext cx="3529613" cy="40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Retention curves over time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049" y="1063523"/>
            <a:ext cx="1809150" cy="381000"/>
            <a:chOff x="0" y="0"/>
            <a:chExt cx="24122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12238" cy="508000"/>
            </a:xfrm>
            <a:custGeom>
              <a:avLst/>
              <a:gdLst/>
              <a:ahLst/>
              <a:cxnLst/>
              <a:rect r="r" b="b" t="t" l="l"/>
              <a:pathLst>
                <a:path h="508000" w="2412238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2158238" y="0"/>
                  </a:lnTo>
                  <a:cubicBezTo>
                    <a:pt x="2298573" y="0"/>
                    <a:pt x="2412238" y="113665"/>
                    <a:pt x="2412238" y="254000"/>
                  </a:cubicBezTo>
                  <a:cubicBezTo>
                    <a:pt x="2412238" y="394335"/>
                    <a:pt x="2298573" y="508000"/>
                    <a:pt x="2158238" y="508000"/>
                  </a:cubicBezTo>
                  <a:lnTo>
                    <a:pt x="254000" y="508000"/>
                  </a:lnTo>
                  <a:cubicBezTo>
                    <a:pt x="113665" y="508000"/>
                    <a:pt x="0" y="394335"/>
                    <a:pt x="0" y="254000"/>
                  </a:cubicBezTo>
                  <a:close/>
                </a:path>
              </a:pathLst>
            </a:custGeom>
            <a:solidFill>
              <a:srgbClr val="004D3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0363" y="1148210"/>
            <a:ext cx="2422922" cy="221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7"/>
              </a:lnSpc>
            </a:pPr>
            <a:r>
              <a:rPr lang="en-US" sz="15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08 — TAKEAWAYS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049" y="1487834"/>
            <a:ext cx="16127911" cy="59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35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Key Insights &amp; Conclusion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65762" y="2374259"/>
            <a:ext cx="592636" cy="592636"/>
            <a:chOff x="0" y="0"/>
            <a:chExt cx="790181" cy="7901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0194" cy="790194"/>
            </a:xfrm>
            <a:custGeom>
              <a:avLst/>
              <a:gdLst/>
              <a:ahLst/>
              <a:cxnLst/>
              <a:rect r="r" b="b" t="t" l="l"/>
              <a:pathLst>
                <a:path h="790194" w="790194">
                  <a:moveTo>
                    <a:pt x="0" y="395097"/>
                  </a:moveTo>
                  <a:cubicBezTo>
                    <a:pt x="0" y="176911"/>
                    <a:pt x="176911" y="0"/>
                    <a:pt x="395097" y="0"/>
                  </a:cubicBezTo>
                  <a:cubicBezTo>
                    <a:pt x="613283" y="0"/>
                    <a:pt x="790194" y="176911"/>
                    <a:pt x="790194" y="395097"/>
                  </a:cubicBezTo>
                  <a:cubicBezTo>
                    <a:pt x="790194" y="613283"/>
                    <a:pt x="613283" y="790194"/>
                    <a:pt x="395097" y="790194"/>
                  </a:cubicBezTo>
                  <a:cubicBezTo>
                    <a:pt x="176911" y="790194"/>
                    <a:pt x="0" y="613283"/>
                    <a:pt x="0" y="395097"/>
                  </a:cubicBezTo>
                  <a:close/>
                </a:path>
              </a:pathLst>
            </a:custGeom>
            <a:solidFill>
              <a:srgbClr val="0A081B"/>
            </a:solidFill>
            <a:ln w="28576" cap="sq">
              <a:solidFill>
                <a:srgbClr val="16FFBB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847698" y="2455659"/>
            <a:ext cx="4438498" cy="36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Peak Demand Timing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47698" y="2897534"/>
            <a:ext cx="4438498" cy="77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8"/>
              </a:lnSpc>
            </a:pPr>
            <a:r>
              <a:rPr lang="en-US" sz="1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Customer demand peaks during late morning and afternoon hours.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26559" y="2374259"/>
            <a:ext cx="592636" cy="592636"/>
            <a:chOff x="0" y="0"/>
            <a:chExt cx="790181" cy="7901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90194" cy="790194"/>
            </a:xfrm>
            <a:custGeom>
              <a:avLst/>
              <a:gdLst/>
              <a:ahLst/>
              <a:cxnLst/>
              <a:rect r="r" b="b" t="t" l="l"/>
              <a:pathLst>
                <a:path h="790194" w="790194">
                  <a:moveTo>
                    <a:pt x="0" y="395097"/>
                  </a:moveTo>
                  <a:cubicBezTo>
                    <a:pt x="0" y="176911"/>
                    <a:pt x="176911" y="0"/>
                    <a:pt x="395097" y="0"/>
                  </a:cubicBezTo>
                  <a:cubicBezTo>
                    <a:pt x="613283" y="0"/>
                    <a:pt x="790194" y="176911"/>
                    <a:pt x="790194" y="395097"/>
                  </a:cubicBezTo>
                  <a:cubicBezTo>
                    <a:pt x="790194" y="613283"/>
                    <a:pt x="613283" y="790194"/>
                    <a:pt x="395097" y="790194"/>
                  </a:cubicBezTo>
                  <a:cubicBezTo>
                    <a:pt x="176911" y="790194"/>
                    <a:pt x="0" y="613283"/>
                    <a:pt x="0" y="395097"/>
                  </a:cubicBezTo>
                  <a:close/>
                </a:path>
              </a:pathLst>
            </a:custGeom>
            <a:solidFill>
              <a:srgbClr val="0A081B"/>
            </a:solidFill>
            <a:ln w="28576" cap="sq">
              <a:solidFill>
                <a:srgbClr val="29DDDA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7308504" y="2455659"/>
            <a:ext cx="4438498" cy="36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High-Volume Days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08504" y="2897534"/>
            <a:ext cx="4438498" cy="77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8"/>
              </a:lnSpc>
            </a:pPr>
            <a:r>
              <a:rPr lang="en-US" sz="1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Sundays and Mondays generate the highest order volume.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987355" y="2374259"/>
            <a:ext cx="592636" cy="592636"/>
            <a:chOff x="0" y="0"/>
            <a:chExt cx="790181" cy="7901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0194" cy="790194"/>
            </a:xfrm>
            <a:custGeom>
              <a:avLst/>
              <a:gdLst/>
              <a:ahLst/>
              <a:cxnLst/>
              <a:rect r="r" b="b" t="t" l="l"/>
              <a:pathLst>
                <a:path h="790194" w="790194">
                  <a:moveTo>
                    <a:pt x="0" y="395097"/>
                  </a:moveTo>
                  <a:cubicBezTo>
                    <a:pt x="0" y="176911"/>
                    <a:pt x="176911" y="0"/>
                    <a:pt x="395097" y="0"/>
                  </a:cubicBezTo>
                  <a:cubicBezTo>
                    <a:pt x="613283" y="0"/>
                    <a:pt x="790194" y="176911"/>
                    <a:pt x="790194" y="395097"/>
                  </a:cubicBezTo>
                  <a:cubicBezTo>
                    <a:pt x="790194" y="613283"/>
                    <a:pt x="613283" y="790194"/>
                    <a:pt x="395097" y="790194"/>
                  </a:cubicBezTo>
                  <a:cubicBezTo>
                    <a:pt x="176911" y="790194"/>
                    <a:pt x="0" y="613283"/>
                    <a:pt x="0" y="395097"/>
                  </a:cubicBezTo>
                  <a:close/>
                </a:path>
              </a:pathLst>
            </a:custGeom>
            <a:solidFill>
              <a:srgbClr val="0A081B"/>
            </a:solidFill>
            <a:ln w="28576" cap="sq">
              <a:solidFill>
                <a:srgbClr val="37A7E7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2769301" y="2455659"/>
            <a:ext cx="4438498" cy="36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Top Department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69301" y="2897534"/>
            <a:ext cx="4438498" cy="77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8"/>
              </a:lnSpc>
            </a:pPr>
            <a:r>
              <a:rPr lang="en-US" sz="1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Produce is the highest-performing department by order share.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65762" y="4065384"/>
            <a:ext cx="592636" cy="592636"/>
            <a:chOff x="0" y="0"/>
            <a:chExt cx="790181" cy="79018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90194" cy="790194"/>
            </a:xfrm>
            <a:custGeom>
              <a:avLst/>
              <a:gdLst/>
              <a:ahLst/>
              <a:cxnLst/>
              <a:rect r="r" b="b" t="t" l="l"/>
              <a:pathLst>
                <a:path h="790194" w="790194">
                  <a:moveTo>
                    <a:pt x="0" y="395097"/>
                  </a:moveTo>
                  <a:cubicBezTo>
                    <a:pt x="0" y="176911"/>
                    <a:pt x="176911" y="0"/>
                    <a:pt x="395097" y="0"/>
                  </a:cubicBezTo>
                  <a:cubicBezTo>
                    <a:pt x="613283" y="0"/>
                    <a:pt x="790194" y="176911"/>
                    <a:pt x="790194" y="395097"/>
                  </a:cubicBezTo>
                  <a:cubicBezTo>
                    <a:pt x="790194" y="613283"/>
                    <a:pt x="613283" y="790194"/>
                    <a:pt x="395097" y="790194"/>
                  </a:cubicBezTo>
                  <a:cubicBezTo>
                    <a:pt x="176911" y="790194"/>
                    <a:pt x="0" y="613283"/>
                    <a:pt x="0" y="395097"/>
                  </a:cubicBezTo>
                  <a:close/>
                </a:path>
              </a:pathLst>
            </a:custGeom>
            <a:solidFill>
              <a:srgbClr val="0A081B"/>
            </a:solidFill>
            <a:ln w="28576" cap="sq">
              <a:solidFill>
                <a:srgbClr val="091231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847698" y="4146794"/>
            <a:ext cx="4438498" cy="36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Most Purchased Product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47698" y="4588669"/>
            <a:ext cx="4438498" cy="77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8"/>
              </a:lnSpc>
            </a:pPr>
            <a:r>
              <a:rPr lang="en-US" sz="1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Bananas are the single most purchased product across all orders.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526559" y="4065384"/>
            <a:ext cx="592636" cy="592636"/>
            <a:chOff x="0" y="0"/>
            <a:chExt cx="790181" cy="79018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90194" cy="790194"/>
            </a:xfrm>
            <a:custGeom>
              <a:avLst/>
              <a:gdLst/>
              <a:ahLst/>
              <a:cxnLst/>
              <a:rect r="r" b="b" t="t" l="l"/>
              <a:pathLst>
                <a:path h="790194" w="790194">
                  <a:moveTo>
                    <a:pt x="0" y="395097"/>
                  </a:moveTo>
                  <a:cubicBezTo>
                    <a:pt x="0" y="176911"/>
                    <a:pt x="176911" y="0"/>
                    <a:pt x="395097" y="0"/>
                  </a:cubicBezTo>
                  <a:cubicBezTo>
                    <a:pt x="613283" y="0"/>
                    <a:pt x="790194" y="176911"/>
                    <a:pt x="790194" y="395097"/>
                  </a:cubicBezTo>
                  <a:cubicBezTo>
                    <a:pt x="790194" y="613283"/>
                    <a:pt x="613283" y="790194"/>
                    <a:pt x="395097" y="790194"/>
                  </a:cubicBezTo>
                  <a:cubicBezTo>
                    <a:pt x="176911" y="790194"/>
                    <a:pt x="0" y="613283"/>
                    <a:pt x="0" y="395097"/>
                  </a:cubicBezTo>
                  <a:close/>
                </a:path>
              </a:pathLst>
            </a:custGeom>
            <a:solidFill>
              <a:srgbClr val="0A081B"/>
            </a:solidFill>
            <a:ln w="28576" cap="sq">
              <a:solidFill>
                <a:srgbClr val="16FFBB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7308504" y="4146794"/>
            <a:ext cx="4438498" cy="36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Subscription Candidates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08504" y="4588669"/>
            <a:ext cx="4438498" cy="77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8"/>
              </a:lnSpc>
            </a:pPr>
            <a:r>
              <a:rPr lang="en-US" sz="1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High-reorder products are ideal candidates for subscription models.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987355" y="4065384"/>
            <a:ext cx="592636" cy="592636"/>
            <a:chOff x="0" y="0"/>
            <a:chExt cx="790181" cy="79018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90194" cy="790194"/>
            </a:xfrm>
            <a:custGeom>
              <a:avLst/>
              <a:gdLst/>
              <a:ahLst/>
              <a:cxnLst/>
              <a:rect r="r" b="b" t="t" l="l"/>
              <a:pathLst>
                <a:path h="790194" w="790194">
                  <a:moveTo>
                    <a:pt x="0" y="395097"/>
                  </a:moveTo>
                  <a:cubicBezTo>
                    <a:pt x="0" y="176911"/>
                    <a:pt x="176911" y="0"/>
                    <a:pt x="395097" y="0"/>
                  </a:cubicBezTo>
                  <a:cubicBezTo>
                    <a:pt x="613283" y="0"/>
                    <a:pt x="790194" y="176911"/>
                    <a:pt x="790194" y="395097"/>
                  </a:cubicBezTo>
                  <a:cubicBezTo>
                    <a:pt x="790194" y="613283"/>
                    <a:pt x="613283" y="790194"/>
                    <a:pt x="395097" y="790194"/>
                  </a:cubicBezTo>
                  <a:cubicBezTo>
                    <a:pt x="176911" y="790194"/>
                    <a:pt x="0" y="613283"/>
                    <a:pt x="0" y="395097"/>
                  </a:cubicBezTo>
                  <a:close/>
                </a:path>
              </a:pathLst>
            </a:custGeom>
            <a:solidFill>
              <a:srgbClr val="0A081B"/>
            </a:solidFill>
            <a:ln w="28576" cap="sq">
              <a:solidFill>
                <a:srgbClr val="29DDDA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2769301" y="4146794"/>
            <a:ext cx="4438498" cy="36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Retention Opportunity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769301" y="4588669"/>
            <a:ext cx="4438498" cy="77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8"/>
              </a:lnSpc>
            </a:pPr>
            <a:r>
              <a:rPr lang="en-US" sz="1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Retention decreases over time — signaling a need for loyalty programs.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80049" y="5655316"/>
            <a:ext cx="16127911" cy="28575"/>
            <a:chOff x="0" y="0"/>
            <a:chExt cx="21503881" cy="381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503894" cy="38100"/>
            </a:xfrm>
            <a:custGeom>
              <a:avLst/>
              <a:gdLst/>
              <a:ahLst/>
              <a:cxnLst/>
              <a:rect r="r" b="b" t="t" l="l"/>
              <a:pathLst>
                <a:path h="38100" w="2150389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484844" y="0"/>
                  </a:lnTo>
                  <a:cubicBezTo>
                    <a:pt x="21495384" y="0"/>
                    <a:pt x="21503894" y="8509"/>
                    <a:pt x="21503894" y="19050"/>
                  </a:cubicBezTo>
                  <a:cubicBezTo>
                    <a:pt x="21503894" y="29591"/>
                    <a:pt x="21495384" y="38100"/>
                    <a:pt x="2148484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E0E4E6">
                <a:alpha val="24706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80049" y="5975747"/>
            <a:ext cx="28575" cy="1549156"/>
            <a:chOff x="0" y="0"/>
            <a:chExt cx="38100" cy="206554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8100" cy="2065528"/>
            </a:xfrm>
            <a:custGeom>
              <a:avLst/>
              <a:gdLst/>
              <a:ahLst/>
              <a:cxnLst/>
              <a:rect r="r" b="b" t="t" l="l"/>
              <a:pathLst>
                <a:path h="2065528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2046478"/>
                  </a:lnTo>
                  <a:cubicBezTo>
                    <a:pt x="38100" y="2057019"/>
                    <a:pt x="29591" y="2065528"/>
                    <a:pt x="19050" y="2065528"/>
                  </a:cubicBezTo>
                  <a:cubicBezTo>
                    <a:pt x="8509" y="2065528"/>
                    <a:pt x="0" y="2057019"/>
                    <a:pt x="0" y="2046478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456134" y="6157312"/>
            <a:ext cx="15751816" cy="1138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8"/>
              </a:lnSpc>
            </a:pPr>
            <a:r>
              <a:rPr lang="en-US" sz="19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This project demonstrates a complete end-to-end analytics workflow — transforming over 3.4 million Instacart transactions into executive-level business insights using Python, DuckDB, SQL, and Power BI. It showcases practical skills in data engineering, SQL analytics, business intelligence, and dashboard design while enabling data-driven decision-making for customer behavior, product performance, and operational planning.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80049" y="7754245"/>
            <a:ext cx="16127911" cy="146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57"/>
              </a:lnSpc>
            </a:pPr>
            <a:r>
              <a:rPr lang="en-US" sz="87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DAHPKZ2v9Yg</dc:identifier>
  <dcterms:modified xsi:type="dcterms:W3CDTF">2011-08-01T06:04:30Z</dcterms:modified>
  <cp:revision>1</cp:revision>
  <dc:title>Instacart-Customer-Analytics-Dashboard (1).pptx</dc:title>
</cp:coreProperties>
</file>